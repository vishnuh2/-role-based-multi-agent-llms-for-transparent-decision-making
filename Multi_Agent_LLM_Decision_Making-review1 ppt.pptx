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F7731BF5-FEE7-8743-9B46-0921701081DB}" type="datetimeFigureOut">
              <a:rPr lang="en-US" smtClean="0"/>
              <a:t>9/7/2026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F98BA023-B744-1340-BD95-D52015956743}" type="slidenum">
              <a:rPr lang="en-US" smtClean="0"/>
              <a:t>‹#›</a:t>
            </a:fld>
            <a:endParaRPr lang="en-US"/>
          </a:p>
        </p:txBody>
      </p:sp>
    </p:spTree>
    <p:extLst>
      <p:ext uri="{BB962C8B-B14F-4D97-AF65-F5344CB8AC3E}">
        <p14:creationId xmlns:p14="http://schemas.microsoft.com/office/powerpoint/2010/main" val="3630939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263876"/>
          </a:solidFill>
          <a:ln/>
        </p:spPr>
      </p:sp>
      <p:sp>
        <p:nvSpPr>
          <p:cNvPr id="3" name="Shape 1"/>
          <p:cNvSpPr/>
          <p:nvPr/>
        </p:nvSpPr>
        <p:spPr>
          <a:xfrm>
            <a:off x="-1828800" y="4572000"/>
            <a:ext cx="4114800" cy="4114800"/>
          </a:xfrm>
          <a:prstGeom prst="ellipse">
            <a:avLst/>
          </a:prstGeom>
          <a:solidFill>
            <a:srgbClr val="263876"/>
          </a:solidFill>
          <a:ln/>
        </p:spPr>
      </p:sp>
      <p:sp>
        <p:nvSpPr>
          <p:cNvPr id="4" name="Shape 2"/>
          <p:cNvSpPr/>
          <p:nvPr/>
        </p:nvSpPr>
        <p:spPr>
          <a:xfrm>
            <a:off x="365760" y="320040"/>
            <a:ext cx="1188720" cy="1188720"/>
          </a:xfrm>
          <a:prstGeom prst="roundRect">
            <a:avLst>
              <a:gd name="adj" fmla="val 4615"/>
            </a:avLst>
          </a:prstGeom>
          <a:solidFill>
            <a:srgbClr val="FFFFFF"/>
          </a:solidFill>
          <a:ln/>
        </p:spPr>
      </p:sp>
      <p:pic>
        <p:nvPicPr>
          <p:cNvPr id="5" name="Image 0" descr="/home/claude/ppt/kprit_logo.jpg"/>
          <p:cNvPicPr>
            <a:picLocks noChangeAspect="1"/>
          </p:cNvPicPr>
          <p:nvPr/>
        </p:nvPicPr>
        <p:blipFill>
          <a:blip r:embed="rId3"/>
          <a:stretch>
            <a:fillRect/>
          </a:stretch>
        </p:blipFill>
        <p:spPr>
          <a:xfrm>
            <a:off x="457200" y="384048"/>
            <a:ext cx="1005840" cy="1060704"/>
          </a:xfrm>
          <a:prstGeom prst="rect">
            <a:avLst/>
          </a:prstGeom>
        </p:spPr>
      </p:pic>
      <p:sp>
        <p:nvSpPr>
          <p:cNvPr id="6" name="Text 3"/>
          <p:cNvSpPr txBox="1"/>
          <p:nvPr/>
        </p:nvSpPr>
        <p:spPr>
          <a:xfrm>
            <a:off x="1737360" y="384048"/>
            <a:ext cx="1005840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KOMMURI PRATAP REDDY INSTITUTE OF TECHNOLOGY</a:t>
            </a:r>
            <a:endParaRPr lang="en-US" sz="1900" dirty="0"/>
          </a:p>
        </p:txBody>
      </p:sp>
      <p:sp>
        <p:nvSpPr>
          <p:cNvPr id="7" name="Text 4"/>
          <p:cNvSpPr txBox="1"/>
          <p:nvPr/>
        </p:nvSpPr>
        <p:spPr>
          <a:xfrm>
            <a:off x="1737360" y="841248"/>
            <a:ext cx="10058400" cy="45720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(UGC-Autonomous Institution) Ghanpur(V), Ghatkesar(M), Medchal(D), Hyderabad-500088</a:t>
            </a:r>
            <a:endParaRPr lang="en-US" sz="1250" dirty="0"/>
          </a:p>
        </p:txBody>
      </p:sp>
      <p:sp>
        <p:nvSpPr>
          <p:cNvPr id="8" name="Text 5"/>
          <p:cNvSpPr txBox="1"/>
          <p:nvPr/>
        </p:nvSpPr>
        <p:spPr>
          <a:xfrm>
            <a:off x="365760" y="1572768"/>
            <a:ext cx="11457432"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DEPARTMENT OF COMPUTER SCIENCE ENGINEERING (AI&amp;ML)</a:t>
            </a:r>
            <a:endParaRPr lang="en-US" sz="1400" dirty="0"/>
          </a:p>
        </p:txBody>
      </p:sp>
      <p:sp>
        <p:nvSpPr>
          <p:cNvPr id="9" name="Text 6"/>
          <p:cNvSpPr txBox="1"/>
          <p:nvPr/>
        </p:nvSpPr>
        <p:spPr>
          <a:xfrm>
            <a:off x="365760" y="1892808"/>
            <a:ext cx="11457432" cy="274320"/>
          </a:xfrm>
          <a:prstGeom prst="rect">
            <a:avLst/>
          </a:prstGeom>
          <a:noFill/>
          <a:ln/>
        </p:spPr>
        <p:txBody>
          <a:bodyPr wrap="square" lIns="0" tIns="0" rIns="0" bIns="0" rtlCol="0" anchor="ctr"/>
          <a:lstStyle/>
          <a:p>
            <a:pPr marL="0" indent="0" algn="ctr">
              <a:buNone/>
            </a:pPr>
            <a:r>
              <a:rPr lang="en-US" sz="1300" b="1" dirty="0">
                <a:solidFill>
                  <a:srgbClr val="CADCFC"/>
                </a:solidFill>
                <a:latin typeface="Calibri" pitchFamily="34" charset="0"/>
                <a:ea typeface="Calibri" pitchFamily="34" charset="-122"/>
                <a:cs typeface="Calibri" pitchFamily="34" charset="-120"/>
              </a:rPr>
              <a:t>MAJOR PROJECT STAGE-1, REVIEW-1</a:t>
            </a:r>
            <a:endParaRPr lang="en-US" sz="1300" dirty="0"/>
          </a:p>
        </p:txBody>
      </p:sp>
      <p:sp>
        <p:nvSpPr>
          <p:cNvPr id="10" name="Text 7"/>
          <p:cNvSpPr txBox="1"/>
          <p:nvPr/>
        </p:nvSpPr>
        <p:spPr>
          <a:xfrm>
            <a:off x="731520" y="2286000"/>
            <a:ext cx="10698480" cy="77724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ROLE-BASED MULTI-AGENT LLMs</a:t>
            </a:r>
            <a:endParaRPr lang="en-US" sz="3800" dirty="0"/>
          </a:p>
        </p:txBody>
      </p:sp>
      <p:sp>
        <p:nvSpPr>
          <p:cNvPr id="11" name="Text 8"/>
          <p:cNvSpPr txBox="1"/>
          <p:nvPr/>
        </p:nvSpPr>
        <p:spPr>
          <a:xfrm>
            <a:off x="731520" y="2926080"/>
            <a:ext cx="10698480" cy="594360"/>
          </a:xfrm>
          <a:prstGeom prst="rect">
            <a:avLst/>
          </a:prstGeom>
          <a:noFill/>
          <a:ln/>
        </p:spPr>
        <p:txBody>
          <a:bodyPr wrap="square" lIns="0" tIns="0" rIns="0" bIns="0" rtlCol="0" anchor="ctr"/>
          <a:lstStyle/>
          <a:p>
            <a:pPr marL="0" indent="0">
              <a:buNone/>
            </a:pPr>
            <a:r>
              <a:rPr lang="en-US" sz="2400" i="1" dirty="0">
                <a:solidFill>
                  <a:srgbClr val="CADCFC"/>
                </a:solidFill>
                <a:latin typeface="Cambria" pitchFamily="34" charset="0"/>
                <a:ea typeface="Cambria" pitchFamily="34" charset="-122"/>
                <a:cs typeface="Cambria" pitchFamily="34" charset="-120"/>
              </a:rPr>
              <a:t>for Transparent Decision-Making</a:t>
            </a:r>
            <a:endParaRPr lang="en-US" sz="2400" dirty="0"/>
          </a:p>
        </p:txBody>
      </p:sp>
      <p:sp>
        <p:nvSpPr>
          <p:cNvPr id="12" name="Text 9"/>
          <p:cNvSpPr txBox="1"/>
          <p:nvPr/>
        </p:nvSpPr>
        <p:spPr>
          <a:xfrm>
            <a:off x="731520" y="3886200"/>
            <a:ext cx="9601200" cy="731520"/>
          </a:xfrm>
          <a:prstGeom prst="rect">
            <a:avLst/>
          </a:prstGeom>
          <a:noFill/>
          <a:ln/>
        </p:spPr>
        <p:txBody>
          <a:bodyPr wrap="square" lIns="0" tIns="0" rIns="0" bIns="0" rtlCol="0" anchor="ctr"/>
          <a:lstStyle/>
          <a:p>
            <a:pPr marL="0" indent="0">
              <a:lnSpc>
                <a:spcPct val="120000"/>
              </a:lnSpc>
              <a:buNone/>
            </a:pPr>
            <a:r>
              <a:rPr lang="en-US" sz="1400" dirty="0">
                <a:solidFill>
                  <a:srgbClr val="CADCFC"/>
                </a:solidFill>
                <a:latin typeface="Calibri" pitchFamily="34" charset="0"/>
                <a:ea typeface="Calibri" pitchFamily="34" charset="-122"/>
                <a:cs typeface="Calibri" pitchFamily="34" charset="-120"/>
              </a:rPr>
              <a:t>A simulated decision-making committee of Advocate, Skeptic, Compliance-Checker</a:t>
            </a:r>
            <a:endParaRPr lang="en-US" sz="1400" dirty="0"/>
          </a:p>
          <a:p>
            <a:pPr marL="0" indent="0">
              <a:lnSpc>
                <a:spcPct val="120000"/>
              </a:lnSpc>
              <a:buNone/>
            </a:pPr>
            <a:r>
              <a:rPr lang="en-US" sz="1400" dirty="0">
                <a:solidFill>
                  <a:srgbClr val="CADCFC"/>
                </a:solidFill>
                <a:latin typeface="Calibri" pitchFamily="34" charset="0"/>
                <a:ea typeface="Calibri" pitchFamily="34" charset="-122"/>
                <a:cs typeface="Calibri" pitchFamily="34" charset="-120"/>
              </a:rPr>
              <a:t>and Adjudicator agents — built with CrewAI / AutoGen</a:t>
            </a:r>
            <a:endParaRPr lang="en-US" sz="1400" dirty="0"/>
          </a:p>
        </p:txBody>
      </p:sp>
      <p:sp>
        <p:nvSpPr>
          <p:cNvPr id="13" name="Text 10"/>
          <p:cNvSpPr txBox="1"/>
          <p:nvPr/>
        </p:nvSpPr>
        <p:spPr>
          <a:xfrm>
            <a:off x="731520" y="4892040"/>
            <a:ext cx="5029200" cy="1188720"/>
          </a:xfrm>
          <a:prstGeom prst="rect">
            <a:avLst/>
          </a:prstGeom>
          <a:noFill/>
          <a:ln/>
        </p:spPr>
        <p:txBody>
          <a:bodyPr wrap="square" lIns="0" tIns="0" rIns="0" bIns="0"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Under The Guidance:</a:t>
            </a:r>
            <a:endParaRPr lang="en-US" sz="1250" dirty="0"/>
          </a:p>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Dr. Pulime Satyanarayana</a:t>
            </a:r>
            <a:endParaRPr lang="en-US" sz="1250" dirty="0"/>
          </a:p>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PROFESSOR</a:t>
            </a:r>
            <a:endParaRPr lang="en-US" sz="1250" dirty="0"/>
          </a:p>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DEPARTMENT OF CSE (AI&amp;ML)</a:t>
            </a:r>
            <a:endParaRPr lang="en-US" sz="1250" dirty="0"/>
          </a:p>
        </p:txBody>
      </p:sp>
      <p:sp>
        <p:nvSpPr>
          <p:cNvPr id="14" name="Text 11"/>
          <p:cNvSpPr txBox="1"/>
          <p:nvPr/>
        </p:nvSpPr>
        <p:spPr>
          <a:xfrm>
            <a:off x="6217920" y="4892040"/>
            <a:ext cx="5212080" cy="1371600"/>
          </a:xfrm>
          <a:prstGeom prst="rect">
            <a:avLst/>
          </a:prstGeom>
          <a:noFill/>
          <a:ln/>
        </p:spPr>
        <p:txBody>
          <a:bodyPr wrap="square" lIns="0" tIns="0" rIns="0" bIns="0" rtlCol="0" anchor="ctr"/>
          <a:lstStyle/>
          <a:p>
            <a:pPr marL="0" indent="0">
              <a:lnSpc>
                <a:spcPct val="125000"/>
              </a:lnSpc>
              <a:buNone/>
            </a:pPr>
            <a:r>
              <a:rPr lang="en-US" sz="1250" b="1" dirty="0">
                <a:solidFill>
                  <a:srgbClr val="FFFFFF"/>
                </a:solidFill>
                <a:latin typeface="Calibri" pitchFamily="34" charset="0"/>
                <a:ea typeface="Calibri" pitchFamily="34" charset="-122"/>
                <a:cs typeface="Calibri" pitchFamily="34" charset="-120"/>
              </a:rPr>
              <a:t>Presented by:</a:t>
            </a:r>
            <a:endParaRPr lang="en-US" sz="1250" dirty="0"/>
          </a:p>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N. Vishnu Kumar — 23RA1A66D4</a:t>
            </a:r>
            <a:endParaRPr lang="en-US" sz="1250" dirty="0"/>
          </a:p>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G. Vinay — 23RA1A66D1</a:t>
            </a:r>
            <a:endParaRPr lang="en-US" sz="1250" dirty="0"/>
          </a:p>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M. Yeshwanth — 23RA1A66E0</a:t>
            </a:r>
            <a:endParaRPr lang="en-US" sz="1250" dirty="0"/>
          </a:p>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K. Shiva Sai — 23RA1A66A5</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ABSTRACT</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Abstract</a:t>
            </a:r>
            <a:endParaRPr lang="en-US" sz="3000" dirty="0"/>
          </a:p>
        </p:txBody>
      </p:sp>
      <p:sp>
        <p:nvSpPr>
          <p:cNvPr id="4" name="Shape 2"/>
          <p:cNvSpPr/>
          <p:nvPr/>
        </p:nvSpPr>
        <p:spPr>
          <a:xfrm>
            <a:off x="548640" y="1691640"/>
            <a:ext cx="11064240" cy="4297680"/>
          </a:xfrm>
          <a:prstGeom prst="roundRect">
            <a:avLst>
              <a:gd name="adj" fmla="val 2128"/>
            </a:avLst>
          </a:prstGeom>
          <a:solidFill>
            <a:srgbClr val="F4F6FC"/>
          </a:solidFill>
          <a:ln/>
        </p:spPr>
      </p:sp>
      <p:sp>
        <p:nvSpPr>
          <p:cNvPr id="5" name="Text 3"/>
          <p:cNvSpPr txBox="1"/>
          <p:nvPr/>
        </p:nvSpPr>
        <p:spPr>
          <a:xfrm>
            <a:off x="914400" y="1965960"/>
            <a:ext cx="10332720" cy="3794760"/>
          </a:xfrm>
          <a:prstGeom prst="rect">
            <a:avLst/>
          </a:prstGeom>
          <a:noFill/>
          <a:ln/>
        </p:spPr>
        <p:txBody>
          <a:bodyPr wrap="square" lIns="0" tIns="0" rIns="0" bIns="0" rtlCol="0" anchor="t"/>
          <a:lstStyle/>
          <a:p>
            <a:pPr marL="0" indent="0" algn="l">
              <a:lnSpc>
                <a:spcPct val="140000"/>
              </a:lnSpc>
              <a:buNone/>
            </a:pPr>
            <a:r>
              <a:rPr lang="en-US" sz="1500" dirty="0">
                <a:solidFill>
                  <a:srgbClr val="1A1A2E"/>
                </a:solidFill>
                <a:latin typeface="Calibri" pitchFamily="34" charset="0"/>
                <a:ea typeface="Calibri" pitchFamily="34" charset="-122"/>
                <a:cs typeface="Calibri" pitchFamily="34" charset="-120"/>
              </a:rPr>
              <a:t>Automated decision-making systems in domains such as loan approval and academic admissions often function as opaque black boxes, making outcomes difficult to understand, trust, or contest. This project addresses that gap by simulating a transparent decision-making committee using multiple Large Language Model (LLM) agents, each assigned a distinct role: an Advocate arguing for the applicant, a Skeptic challenging weak points, and a Compliance-Checker ensuring adherence to fairness guidelines. These agents engage in a structured, multi-round debate, after which a final Adjudicator agent synthesizes the arguments and renders a decision, with the complete transcript logged in JSON format for auditability. The system is built using CrewAI or AutoGen on a synthetic loan/admissions dataset, and bias probes — swapping demographic attributes across identical profiles — measure decision consistency, extending multi-agent debate techniques toward explainable, auditable AI decision support.</a:t>
            </a:r>
            <a:endParaRPr lang="en-US" sz="1500" dirty="0"/>
          </a:p>
        </p:txBody>
      </p:sp>
      <p:sp>
        <p:nvSpPr>
          <p:cNvPr id="6" name="Text 4"/>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LITERATURE SURVEY — PART 1</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Foundations of Multi-Agent Debate</a:t>
            </a:r>
            <a:endParaRPr lang="en-US" sz="2800" dirty="0"/>
          </a:p>
        </p:txBody>
      </p:sp>
      <p:sp>
        <p:nvSpPr>
          <p:cNvPr id="4" name="Shape 2"/>
          <p:cNvSpPr/>
          <p:nvPr/>
        </p:nvSpPr>
        <p:spPr>
          <a:xfrm>
            <a:off x="548640" y="1874520"/>
            <a:ext cx="11064240" cy="1234440"/>
          </a:xfrm>
          <a:prstGeom prst="roundRect">
            <a:avLst>
              <a:gd name="adj" fmla="val 7407"/>
            </a:avLst>
          </a:prstGeom>
          <a:solidFill>
            <a:srgbClr val="F4F6FC"/>
          </a:solidFill>
          <a:ln/>
        </p:spPr>
      </p:sp>
      <p:sp>
        <p:nvSpPr>
          <p:cNvPr id="5" name="Shape 3"/>
          <p:cNvSpPr/>
          <p:nvPr/>
        </p:nvSpPr>
        <p:spPr>
          <a:xfrm>
            <a:off x="777240" y="2075688"/>
            <a:ext cx="502920" cy="502920"/>
          </a:xfrm>
          <a:prstGeom prst="ellipse">
            <a:avLst/>
          </a:prstGeom>
          <a:solidFill>
            <a:srgbClr val="1E2761"/>
          </a:solidFill>
          <a:ln/>
        </p:spPr>
      </p:sp>
      <p:sp>
        <p:nvSpPr>
          <p:cNvPr id="6" name="Text 4"/>
          <p:cNvSpPr txBox="1"/>
          <p:nvPr/>
        </p:nvSpPr>
        <p:spPr>
          <a:xfrm>
            <a:off x="777240" y="20756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08760" y="2002536"/>
            <a:ext cx="97840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Du et al. (2023) — arXiv:2305.14325</a:t>
            </a:r>
            <a:endParaRPr lang="en-US" sz="1400" dirty="0"/>
          </a:p>
        </p:txBody>
      </p:sp>
      <p:sp>
        <p:nvSpPr>
          <p:cNvPr id="8" name="Text 6"/>
          <p:cNvSpPr txBox="1"/>
          <p:nvPr/>
        </p:nvSpPr>
        <p:spPr>
          <a:xfrm>
            <a:off x="1508760" y="2377440"/>
            <a:ext cx="9784080" cy="685800"/>
          </a:xfrm>
          <a:prstGeom prst="rect">
            <a:avLst/>
          </a:prstGeom>
          <a:noFill/>
          <a:ln/>
        </p:spPr>
        <p:txBody>
          <a:bodyPr wrap="square" lIns="0" tIns="0" rIns="0" bIns="0" rtlCol="0" anchor="ctr"/>
          <a:lstStyle/>
          <a:p>
            <a:pPr marL="0" indent="0">
              <a:lnSpc>
                <a:spcPct val="120000"/>
              </a:lnSpc>
              <a:buNone/>
            </a:pPr>
            <a:r>
              <a:rPr lang="en-US" sz="1250" dirty="0">
                <a:solidFill>
                  <a:srgbClr val="1A1A2E"/>
                </a:solidFill>
                <a:latin typeface="Calibri" pitchFamily="34" charset="0"/>
                <a:ea typeface="Calibri" pitchFamily="34" charset="-122"/>
                <a:cs typeface="Calibri" pitchFamily="34" charset="-120"/>
              </a:rPr>
              <a:t>Introduced multi-agent debate: several LLM instances critique each other over multiple rounds, improving factual accuracy and reasoning versus single-agent prompting.</a:t>
            </a:r>
            <a:endParaRPr lang="en-US" sz="1250" dirty="0"/>
          </a:p>
        </p:txBody>
      </p:sp>
      <p:sp>
        <p:nvSpPr>
          <p:cNvPr id="9" name="Shape 7"/>
          <p:cNvSpPr/>
          <p:nvPr/>
        </p:nvSpPr>
        <p:spPr>
          <a:xfrm>
            <a:off x="548640" y="3291840"/>
            <a:ext cx="11064240" cy="1234440"/>
          </a:xfrm>
          <a:prstGeom prst="roundRect">
            <a:avLst>
              <a:gd name="adj" fmla="val 7407"/>
            </a:avLst>
          </a:prstGeom>
          <a:solidFill>
            <a:srgbClr val="F4F6FC"/>
          </a:solidFill>
          <a:ln/>
        </p:spPr>
      </p:sp>
      <p:sp>
        <p:nvSpPr>
          <p:cNvPr id="10" name="Shape 8"/>
          <p:cNvSpPr/>
          <p:nvPr/>
        </p:nvSpPr>
        <p:spPr>
          <a:xfrm>
            <a:off x="777240" y="3493008"/>
            <a:ext cx="502920" cy="502920"/>
          </a:xfrm>
          <a:prstGeom prst="ellipse">
            <a:avLst/>
          </a:prstGeom>
          <a:solidFill>
            <a:srgbClr val="1E2761"/>
          </a:solidFill>
          <a:ln/>
        </p:spPr>
      </p:sp>
      <p:sp>
        <p:nvSpPr>
          <p:cNvPr id="11" name="Text 9"/>
          <p:cNvSpPr txBox="1"/>
          <p:nvPr/>
        </p:nvSpPr>
        <p:spPr>
          <a:xfrm>
            <a:off x="777240" y="34930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508760" y="3419856"/>
            <a:ext cx="97840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Wu et al. (2024) — AutoGen, COLM</a:t>
            </a:r>
            <a:endParaRPr lang="en-US" sz="1400" dirty="0"/>
          </a:p>
        </p:txBody>
      </p:sp>
      <p:sp>
        <p:nvSpPr>
          <p:cNvPr id="13" name="Text 11"/>
          <p:cNvSpPr txBox="1"/>
          <p:nvPr/>
        </p:nvSpPr>
        <p:spPr>
          <a:xfrm>
            <a:off x="1508760" y="3794760"/>
            <a:ext cx="9784080" cy="685800"/>
          </a:xfrm>
          <a:prstGeom prst="rect">
            <a:avLst/>
          </a:prstGeom>
          <a:noFill/>
          <a:ln/>
        </p:spPr>
        <p:txBody>
          <a:bodyPr wrap="square" lIns="0" tIns="0" rIns="0" bIns="0" rtlCol="0" anchor="ctr"/>
          <a:lstStyle/>
          <a:p>
            <a:pPr marL="0" indent="0">
              <a:lnSpc>
                <a:spcPct val="120000"/>
              </a:lnSpc>
              <a:buNone/>
            </a:pPr>
            <a:r>
              <a:rPr lang="en-US" sz="1250" dirty="0">
                <a:solidFill>
                  <a:srgbClr val="1A1A2E"/>
                </a:solidFill>
                <a:latin typeface="Calibri" pitchFamily="34" charset="0"/>
                <a:ea typeface="Calibri" pitchFamily="34" charset="-122"/>
                <a:cs typeface="Calibri" pitchFamily="34" charset="-120"/>
              </a:rPr>
              <a:t>Presented AutoGen, an open-source framework for building multi-agent LLM applications with customizable agents and flexible conversation patterns — one of the two frameworks used in this project.</a:t>
            </a:r>
            <a:endParaRPr lang="en-US" sz="1250" dirty="0"/>
          </a:p>
        </p:txBody>
      </p:sp>
      <p:sp>
        <p:nvSpPr>
          <p:cNvPr id="14" name="Shape 12"/>
          <p:cNvSpPr/>
          <p:nvPr/>
        </p:nvSpPr>
        <p:spPr>
          <a:xfrm>
            <a:off x="548640" y="4709160"/>
            <a:ext cx="11064240" cy="1234440"/>
          </a:xfrm>
          <a:prstGeom prst="roundRect">
            <a:avLst>
              <a:gd name="adj" fmla="val 7407"/>
            </a:avLst>
          </a:prstGeom>
          <a:solidFill>
            <a:srgbClr val="F4F6FC"/>
          </a:solidFill>
          <a:ln/>
        </p:spPr>
      </p:sp>
      <p:sp>
        <p:nvSpPr>
          <p:cNvPr id="15" name="Shape 13"/>
          <p:cNvSpPr/>
          <p:nvPr/>
        </p:nvSpPr>
        <p:spPr>
          <a:xfrm>
            <a:off x="777240" y="4910328"/>
            <a:ext cx="502920" cy="502920"/>
          </a:xfrm>
          <a:prstGeom prst="ellipse">
            <a:avLst/>
          </a:prstGeom>
          <a:solidFill>
            <a:srgbClr val="1E2761"/>
          </a:solidFill>
          <a:ln/>
        </p:spPr>
      </p:sp>
      <p:sp>
        <p:nvSpPr>
          <p:cNvPr id="16" name="Text 14"/>
          <p:cNvSpPr txBox="1"/>
          <p:nvPr/>
        </p:nvSpPr>
        <p:spPr>
          <a:xfrm>
            <a:off x="777240" y="491032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508760" y="4837176"/>
            <a:ext cx="97840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Comparative study (2024) — AutoGen vs. CrewAI vs. TaskWeaver</a:t>
            </a:r>
            <a:endParaRPr lang="en-US" sz="1400" dirty="0"/>
          </a:p>
        </p:txBody>
      </p:sp>
      <p:sp>
        <p:nvSpPr>
          <p:cNvPr id="18" name="Text 16"/>
          <p:cNvSpPr txBox="1"/>
          <p:nvPr/>
        </p:nvSpPr>
        <p:spPr>
          <a:xfrm>
            <a:off x="1508760" y="5212080"/>
            <a:ext cx="9784080" cy="685800"/>
          </a:xfrm>
          <a:prstGeom prst="rect">
            <a:avLst/>
          </a:prstGeom>
          <a:noFill/>
          <a:ln/>
        </p:spPr>
        <p:txBody>
          <a:bodyPr wrap="square" lIns="0" tIns="0" rIns="0" bIns="0" rtlCol="0" anchor="ctr"/>
          <a:lstStyle/>
          <a:p>
            <a:pPr marL="0" indent="0">
              <a:lnSpc>
                <a:spcPct val="120000"/>
              </a:lnSpc>
              <a:buNone/>
            </a:pPr>
            <a:r>
              <a:rPr lang="en-US" sz="1250" dirty="0">
                <a:solidFill>
                  <a:srgbClr val="1A1A2E"/>
                </a:solidFill>
                <a:latin typeface="Calibri" pitchFamily="34" charset="0"/>
                <a:ea typeface="Calibri" pitchFamily="34" charset="-122"/>
                <a:cs typeface="Calibri" pitchFamily="34" charset="-120"/>
              </a:rPr>
              <a:t>Benchmarked the three leading multi-agent orchestration frameworks on collaborative code-generation tasks, informing the choice of framework for this project.</a:t>
            </a:r>
            <a:endParaRPr lang="en-US" sz="1250" dirty="0"/>
          </a:p>
        </p:txBody>
      </p:sp>
      <p:sp>
        <p:nvSpPr>
          <p:cNvPr id="19" name="Text 17"/>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LITERATURE SURVEY — PART 2</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Bias, Fairness &amp; Risk in Agent Systems</a:t>
            </a:r>
            <a:endParaRPr lang="en-US" sz="2800" dirty="0"/>
          </a:p>
        </p:txBody>
      </p:sp>
      <p:sp>
        <p:nvSpPr>
          <p:cNvPr id="4" name="Shape 2"/>
          <p:cNvSpPr/>
          <p:nvPr/>
        </p:nvSpPr>
        <p:spPr>
          <a:xfrm>
            <a:off x="548640" y="1874520"/>
            <a:ext cx="11064240" cy="1234440"/>
          </a:xfrm>
          <a:prstGeom prst="roundRect">
            <a:avLst>
              <a:gd name="adj" fmla="val 7407"/>
            </a:avLst>
          </a:prstGeom>
          <a:solidFill>
            <a:srgbClr val="F4F6FC"/>
          </a:solidFill>
          <a:ln/>
        </p:spPr>
      </p:sp>
      <p:sp>
        <p:nvSpPr>
          <p:cNvPr id="5" name="Shape 3"/>
          <p:cNvSpPr/>
          <p:nvPr/>
        </p:nvSpPr>
        <p:spPr>
          <a:xfrm>
            <a:off x="777240" y="2075688"/>
            <a:ext cx="502920" cy="502920"/>
          </a:xfrm>
          <a:prstGeom prst="ellipse">
            <a:avLst/>
          </a:prstGeom>
          <a:solidFill>
            <a:srgbClr val="1E2761"/>
          </a:solidFill>
          <a:ln/>
        </p:spPr>
      </p:sp>
      <p:sp>
        <p:nvSpPr>
          <p:cNvPr id="6" name="Text 4"/>
          <p:cNvSpPr txBox="1"/>
          <p:nvPr/>
        </p:nvSpPr>
        <p:spPr>
          <a:xfrm>
            <a:off x="777240" y="20756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08760" y="2002536"/>
            <a:ext cx="97840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Emergent Bias and Fairness in Multi-Agent Decision Systems — arXiv:2512.16433</a:t>
            </a:r>
            <a:endParaRPr lang="en-US" sz="1400" dirty="0"/>
          </a:p>
        </p:txBody>
      </p:sp>
      <p:sp>
        <p:nvSpPr>
          <p:cNvPr id="8" name="Text 6"/>
          <p:cNvSpPr txBox="1"/>
          <p:nvPr/>
        </p:nvSpPr>
        <p:spPr>
          <a:xfrm>
            <a:off x="1508760" y="2377440"/>
            <a:ext cx="9784080" cy="685800"/>
          </a:xfrm>
          <a:prstGeom prst="rect">
            <a:avLst/>
          </a:prstGeom>
          <a:noFill/>
          <a:ln/>
        </p:spPr>
        <p:txBody>
          <a:bodyPr wrap="square" lIns="0" tIns="0" rIns="0" bIns="0" rtlCol="0" anchor="ctr"/>
          <a:lstStyle/>
          <a:p>
            <a:pPr marL="0" indent="0">
              <a:lnSpc>
                <a:spcPct val="120000"/>
              </a:lnSpc>
              <a:buNone/>
            </a:pPr>
            <a:r>
              <a:rPr lang="en-US" sz="1250" dirty="0">
                <a:solidFill>
                  <a:srgbClr val="1A1A2E"/>
                </a:solidFill>
                <a:latin typeface="Calibri" pitchFamily="34" charset="0"/>
                <a:ea typeface="Calibri" pitchFamily="34" charset="-122"/>
                <a:cs typeface="Calibri" pitchFamily="34" charset="-120"/>
              </a:rPr>
              <a:t>Tested multi-agent debate on the German Credit and Adult Income loan datasets; found debate can either amplify or reduce bias depending on agent composition — directly motivating this project's bias-probing objective.</a:t>
            </a:r>
            <a:endParaRPr lang="en-US" sz="1250" dirty="0"/>
          </a:p>
        </p:txBody>
      </p:sp>
      <p:sp>
        <p:nvSpPr>
          <p:cNvPr id="9" name="Shape 7"/>
          <p:cNvSpPr/>
          <p:nvPr/>
        </p:nvSpPr>
        <p:spPr>
          <a:xfrm>
            <a:off x="548640" y="3291840"/>
            <a:ext cx="11064240" cy="1234440"/>
          </a:xfrm>
          <a:prstGeom prst="roundRect">
            <a:avLst>
              <a:gd name="adj" fmla="val 7407"/>
            </a:avLst>
          </a:prstGeom>
          <a:solidFill>
            <a:srgbClr val="F4F6FC"/>
          </a:solidFill>
          <a:ln/>
        </p:spPr>
      </p:sp>
      <p:sp>
        <p:nvSpPr>
          <p:cNvPr id="10" name="Shape 8"/>
          <p:cNvSpPr/>
          <p:nvPr/>
        </p:nvSpPr>
        <p:spPr>
          <a:xfrm>
            <a:off x="777240" y="3493008"/>
            <a:ext cx="502920" cy="502920"/>
          </a:xfrm>
          <a:prstGeom prst="ellipse">
            <a:avLst/>
          </a:prstGeom>
          <a:solidFill>
            <a:srgbClr val="1E2761"/>
          </a:solidFill>
          <a:ln/>
        </p:spPr>
      </p:sp>
      <p:sp>
        <p:nvSpPr>
          <p:cNvPr id="11" name="Text 9"/>
          <p:cNvSpPr txBox="1"/>
          <p:nvPr/>
        </p:nvSpPr>
        <p:spPr>
          <a:xfrm>
            <a:off x="777240" y="34930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508760" y="3419856"/>
            <a:ext cx="97840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Emergence of Biased Consensus in Multi-Agent LLM Debates — arXiv:2608.02827</a:t>
            </a:r>
            <a:endParaRPr lang="en-US" sz="1400" dirty="0"/>
          </a:p>
        </p:txBody>
      </p:sp>
      <p:sp>
        <p:nvSpPr>
          <p:cNvPr id="13" name="Text 11"/>
          <p:cNvSpPr txBox="1"/>
          <p:nvPr/>
        </p:nvSpPr>
        <p:spPr>
          <a:xfrm>
            <a:off x="1508760" y="3794760"/>
            <a:ext cx="9784080" cy="685800"/>
          </a:xfrm>
          <a:prstGeom prst="rect">
            <a:avLst/>
          </a:prstGeom>
          <a:noFill/>
          <a:ln/>
        </p:spPr>
        <p:txBody>
          <a:bodyPr wrap="square" lIns="0" tIns="0" rIns="0" bIns="0" rtlCol="0" anchor="ctr"/>
          <a:lstStyle/>
          <a:p>
            <a:pPr marL="0" indent="0">
              <a:lnSpc>
                <a:spcPct val="120000"/>
              </a:lnSpc>
              <a:buNone/>
            </a:pPr>
            <a:r>
              <a:rPr lang="en-US" sz="1250" dirty="0">
                <a:solidFill>
                  <a:srgbClr val="1A1A2E"/>
                </a:solidFill>
                <a:latin typeface="Calibri" pitchFamily="34" charset="0"/>
                <a:ea typeface="Calibri" pitchFamily="34" charset="-122"/>
                <a:cs typeface="Calibri" pitchFamily="34" charset="-120"/>
              </a:rPr>
              <a:t>Showed that conformity among debating agents can trigger a phase transition into collective bias, and that agent heterogeneity helps suppress it.</a:t>
            </a:r>
            <a:endParaRPr lang="en-US" sz="1250" dirty="0"/>
          </a:p>
        </p:txBody>
      </p:sp>
      <p:sp>
        <p:nvSpPr>
          <p:cNvPr id="14" name="Shape 12"/>
          <p:cNvSpPr/>
          <p:nvPr/>
        </p:nvSpPr>
        <p:spPr>
          <a:xfrm>
            <a:off x="548640" y="4709160"/>
            <a:ext cx="11064240" cy="1234440"/>
          </a:xfrm>
          <a:prstGeom prst="roundRect">
            <a:avLst>
              <a:gd name="adj" fmla="val 7407"/>
            </a:avLst>
          </a:prstGeom>
          <a:solidFill>
            <a:srgbClr val="F4F6FC"/>
          </a:solidFill>
          <a:ln/>
        </p:spPr>
      </p:sp>
      <p:sp>
        <p:nvSpPr>
          <p:cNvPr id="15" name="Shape 13"/>
          <p:cNvSpPr/>
          <p:nvPr/>
        </p:nvSpPr>
        <p:spPr>
          <a:xfrm>
            <a:off x="777240" y="4910328"/>
            <a:ext cx="502920" cy="502920"/>
          </a:xfrm>
          <a:prstGeom prst="ellipse">
            <a:avLst/>
          </a:prstGeom>
          <a:solidFill>
            <a:srgbClr val="1E2761"/>
          </a:solidFill>
          <a:ln/>
        </p:spPr>
      </p:sp>
      <p:sp>
        <p:nvSpPr>
          <p:cNvPr id="16" name="Text 14"/>
          <p:cNvSpPr txBox="1"/>
          <p:nvPr/>
        </p:nvSpPr>
        <p:spPr>
          <a:xfrm>
            <a:off x="777240" y="491032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508760" y="4837176"/>
            <a:ext cx="97840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Weidinger et al. (2022) — ACM FAccT</a:t>
            </a:r>
            <a:endParaRPr lang="en-US" sz="1400" dirty="0"/>
          </a:p>
        </p:txBody>
      </p:sp>
      <p:sp>
        <p:nvSpPr>
          <p:cNvPr id="18" name="Text 16"/>
          <p:cNvSpPr txBox="1"/>
          <p:nvPr/>
        </p:nvSpPr>
        <p:spPr>
          <a:xfrm>
            <a:off x="1508760" y="5212080"/>
            <a:ext cx="9784080" cy="685800"/>
          </a:xfrm>
          <a:prstGeom prst="rect">
            <a:avLst/>
          </a:prstGeom>
          <a:noFill/>
          <a:ln/>
        </p:spPr>
        <p:txBody>
          <a:bodyPr wrap="square" lIns="0" tIns="0" rIns="0" bIns="0" rtlCol="0" anchor="ctr"/>
          <a:lstStyle/>
          <a:p>
            <a:pPr marL="0" indent="0">
              <a:lnSpc>
                <a:spcPct val="120000"/>
              </a:lnSpc>
              <a:buNone/>
            </a:pPr>
            <a:r>
              <a:rPr lang="en-US" sz="1250" dirty="0">
                <a:solidFill>
                  <a:srgbClr val="1A1A2E"/>
                </a:solidFill>
                <a:latin typeface="Calibri" pitchFamily="34" charset="0"/>
                <a:ea typeface="Calibri" pitchFamily="34" charset="-122"/>
                <a:cs typeface="Calibri" pitchFamily="34" charset="-120"/>
              </a:rPr>
              <a:t>Proposed a taxonomy of risks posed by language models, including discrimination and lack of accountability — grounds the role of this project's Compliance-Checker agent.</a:t>
            </a:r>
            <a:endParaRPr lang="en-US" sz="1250" dirty="0"/>
          </a:p>
        </p:txBody>
      </p:sp>
      <p:sp>
        <p:nvSpPr>
          <p:cNvPr id="19" name="Text 17"/>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EXISTING SYSTEM</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Single-Model Decision Pipelines</a:t>
            </a:r>
            <a:endParaRPr lang="en-US" sz="3000" dirty="0"/>
          </a:p>
        </p:txBody>
      </p:sp>
      <p:sp>
        <p:nvSpPr>
          <p:cNvPr id="4" name="Shape 2"/>
          <p:cNvSpPr/>
          <p:nvPr/>
        </p:nvSpPr>
        <p:spPr>
          <a:xfrm>
            <a:off x="882396" y="2011680"/>
            <a:ext cx="2926080" cy="1005840"/>
          </a:xfrm>
          <a:prstGeom prst="roundRect">
            <a:avLst>
              <a:gd name="adj" fmla="val 9091"/>
            </a:avLst>
          </a:prstGeom>
          <a:solidFill>
            <a:srgbClr val="E8ECFB"/>
          </a:solidFill>
          <a:ln/>
        </p:spPr>
      </p:sp>
      <p:sp>
        <p:nvSpPr>
          <p:cNvPr id="5" name="Text 3"/>
          <p:cNvSpPr txBox="1"/>
          <p:nvPr/>
        </p:nvSpPr>
        <p:spPr>
          <a:xfrm>
            <a:off x="882396" y="2011680"/>
            <a:ext cx="2926080" cy="1005840"/>
          </a:xfrm>
          <a:prstGeom prst="rect">
            <a:avLst/>
          </a:prstGeom>
          <a:noFill/>
          <a:ln/>
        </p:spPr>
        <p:txBody>
          <a:bodyPr wrap="square" lIns="0" tIns="0" rIns="0" bIns="0" rtlCol="0" anchor="ctr"/>
          <a:lstStyle/>
          <a:p>
            <a:pPr marL="0" indent="0" algn="ctr">
              <a:buNone/>
            </a:pPr>
            <a:r>
              <a:rPr lang="en-US" sz="1400" b="1" dirty="0">
                <a:solidFill>
                  <a:srgbClr val="1A1A2E"/>
                </a:solidFill>
                <a:latin typeface="Calibri" pitchFamily="34" charset="0"/>
                <a:ea typeface="Calibri" pitchFamily="34" charset="-122"/>
                <a:cs typeface="Calibri" pitchFamily="34" charset="-120"/>
              </a:rPr>
              <a:t>Applicant Data</a:t>
            </a:r>
            <a:endParaRPr lang="en-US" sz="1400" dirty="0"/>
          </a:p>
        </p:txBody>
      </p:sp>
      <p:sp>
        <p:nvSpPr>
          <p:cNvPr id="6" name="Text 4"/>
          <p:cNvSpPr txBox="1"/>
          <p:nvPr/>
        </p:nvSpPr>
        <p:spPr>
          <a:xfrm>
            <a:off x="3808476" y="2011680"/>
            <a:ext cx="822960" cy="1005840"/>
          </a:xfrm>
          <a:prstGeom prst="rect">
            <a:avLst/>
          </a:prstGeom>
          <a:noFill/>
          <a:ln/>
        </p:spPr>
        <p:txBody>
          <a:bodyPr wrap="square" lIns="0" tIns="0" rIns="0" bIns="0" rtlCol="0" anchor="ctr"/>
          <a:lstStyle/>
          <a:p>
            <a:pPr marL="0" indent="0" algn="ctr">
              <a:buNone/>
            </a:pPr>
            <a:r>
              <a:rPr lang="en-US" sz="2400" dirty="0">
                <a:solidFill>
                  <a:srgbClr val="5A6478"/>
                </a:solidFill>
                <a:latin typeface="Arial" pitchFamily="34" charset="0"/>
                <a:ea typeface="Arial" pitchFamily="34" charset="-122"/>
                <a:cs typeface="Arial" pitchFamily="34" charset="-120"/>
              </a:rPr>
              <a:t>→</a:t>
            </a:r>
            <a:endParaRPr lang="en-US" sz="2400" dirty="0"/>
          </a:p>
        </p:txBody>
      </p:sp>
      <p:sp>
        <p:nvSpPr>
          <p:cNvPr id="7" name="Shape 5"/>
          <p:cNvSpPr/>
          <p:nvPr/>
        </p:nvSpPr>
        <p:spPr>
          <a:xfrm>
            <a:off x="4631436" y="2011680"/>
            <a:ext cx="2926080" cy="1005840"/>
          </a:xfrm>
          <a:prstGeom prst="roundRect">
            <a:avLst>
              <a:gd name="adj" fmla="val 9091"/>
            </a:avLst>
          </a:prstGeom>
          <a:solidFill>
            <a:srgbClr val="1E2761"/>
          </a:solidFill>
          <a:ln/>
        </p:spPr>
      </p:sp>
      <p:sp>
        <p:nvSpPr>
          <p:cNvPr id="8" name="Text 6"/>
          <p:cNvSpPr txBox="1"/>
          <p:nvPr/>
        </p:nvSpPr>
        <p:spPr>
          <a:xfrm>
            <a:off x="4631436" y="2011680"/>
            <a:ext cx="2926080" cy="10058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Single ML/LLM Model</a:t>
            </a:r>
            <a:endParaRPr lang="en-US" sz="1400" dirty="0"/>
          </a:p>
        </p:txBody>
      </p:sp>
      <p:sp>
        <p:nvSpPr>
          <p:cNvPr id="9" name="Text 7"/>
          <p:cNvSpPr txBox="1"/>
          <p:nvPr/>
        </p:nvSpPr>
        <p:spPr>
          <a:xfrm>
            <a:off x="7557516" y="2011680"/>
            <a:ext cx="822960" cy="1005840"/>
          </a:xfrm>
          <a:prstGeom prst="rect">
            <a:avLst/>
          </a:prstGeom>
          <a:noFill/>
          <a:ln/>
        </p:spPr>
        <p:txBody>
          <a:bodyPr wrap="square" lIns="0" tIns="0" rIns="0" bIns="0" rtlCol="0" anchor="ctr"/>
          <a:lstStyle/>
          <a:p>
            <a:pPr marL="0" indent="0" algn="ctr">
              <a:buNone/>
            </a:pPr>
            <a:r>
              <a:rPr lang="en-US" sz="2400" dirty="0">
                <a:solidFill>
                  <a:srgbClr val="5A6478"/>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8380476" y="2011680"/>
            <a:ext cx="2926080" cy="1005840"/>
          </a:xfrm>
          <a:prstGeom prst="roundRect">
            <a:avLst>
              <a:gd name="adj" fmla="val 9091"/>
            </a:avLst>
          </a:prstGeom>
          <a:solidFill>
            <a:srgbClr val="E8ECFB"/>
          </a:solidFill>
          <a:ln/>
        </p:spPr>
      </p:sp>
      <p:sp>
        <p:nvSpPr>
          <p:cNvPr id="11" name="Text 9"/>
          <p:cNvSpPr txBox="1"/>
          <p:nvPr/>
        </p:nvSpPr>
        <p:spPr>
          <a:xfrm>
            <a:off x="8380476" y="2011680"/>
            <a:ext cx="2926080" cy="1005840"/>
          </a:xfrm>
          <a:prstGeom prst="rect">
            <a:avLst/>
          </a:prstGeom>
          <a:noFill/>
          <a:ln/>
        </p:spPr>
        <p:txBody>
          <a:bodyPr wrap="square" lIns="0" tIns="0" rIns="0" bIns="0" rtlCol="0" anchor="ctr"/>
          <a:lstStyle/>
          <a:p>
            <a:pPr marL="0" indent="0" algn="ctr">
              <a:buNone/>
            </a:pPr>
            <a:r>
              <a:rPr lang="en-US" sz="1400" b="1" dirty="0">
                <a:solidFill>
                  <a:srgbClr val="1A1A2E"/>
                </a:solidFill>
                <a:latin typeface="Calibri" pitchFamily="34" charset="0"/>
                <a:ea typeface="Calibri" pitchFamily="34" charset="-122"/>
                <a:cs typeface="Calibri" pitchFamily="34" charset="-120"/>
              </a:rPr>
              <a:t>Final Decision</a:t>
            </a:r>
            <a:endParaRPr lang="en-US" sz="1400" dirty="0"/>
          </a:p>
        </p:txBody>
      </p:sp>
      <p:sp>
        <p:nvSpPr>
          <p:cNvPr id="12" name="Text 10"/>
          <p:cNvSpPr txBox="1"/>
          <p:nvPr/>
        </p:nvSpPr>
        <p:spPr>
          <a:xfrm>
            <a:off x="548640" y="3474720"/>
            <a:ext cx="45720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Limitations</a:t>
            </a:r>
            <a:endParaRPr lang="en-US" sz="1600" dirty="0"/>
          </a:p>
        </p:txBody>
      </p:sp>
      <p:sp>
        <p:nvSpPr>
          <p:cNvPr id="13" name="Text 11"/>
          <p:cNvSpPr txBox="1"/>
          <p:nvPr/>
        </p:nvSpPr>
        <p:spPr>
          <a:xfrm>
            <a:off x="548640" y="3886200"/>
            <a:ext cx="10972800" cy="21945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Minimal explanation accompanies the final decision</a:t>
            </a:r>
            <a:endParaRPr lang="en-US" sz="1400" dirty="0"/>
          </a:p>
          <a:p>
            <a:pPr marL="342900" indent="-3429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No mechanism to challenge or verify the decision before finalization</a:t>
            </a:r>
            <a:endParaRPr lang="en-US" sz="1400" dirty="0"/>
          </a:p>
          <a:p>
            <a:pPr marL="342900" indent="-3429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Bias goes undetected — no structured probing step</a:t>
            </a:r>
            <a:endParaRPr lang="en-US" sz="1400" dirty="0"/>
          </a:p>
          <a:p>
            <a:pPr marL="342900" indent="-3429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Difficult to audit or hold accountable</a:t>
            </a:r>
            <a:endParaRPr lang="en-US" sz="1400" dirty="0"/>
          </a:p>
        </p:txBody>
      </p:sp>
      <p:sp>
        <p:nvSpPr>
          <p:cNvPr id="14" name="Text 12"/>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PROPOSED SYSTEM</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Committee of Role-Based Agents</a:t>
            </a:r>
            <a:endParaRPr lang="en-US" sz="3000" dirty="0"/>
          </a:p>
        </p:txBody>
      </p:sp>
      <p:sp>
        <p:nvSpPr>
          <p:cNvPr id="4" name="Shape 2"/>
          <p:cNvSpPr/>
          <p:nvPr/>
        </p:nvSpPr>
        <p:spPr>
          <a:xfrm>
            <a:off x="548640" y="1920240"/>
            <a:ext cx="2606040" cy="3017520"/>
          </a:xfrm>
          <a:prstGeom prst="roundRect">
            <a:avLst>
              <a:gd name="adj" fmla="val 4211"/>
            </a:avLst>
          </a:prstGeom>
          <a:solidFill>
            <a:srgbClr val="263876"/>
          </a:solidFill>
          <a:ln/>
        </p:spPr>
      </p:sp>
      <p:sp>
        <p:nvSpPr>
          <p:cNvPr id="5" name="Shape 3"/>
          <p:cNvSpPr/>
          <p:nvPr/>
        </p:nvSpPr>
        <p:spPr>
          <a:xfrm>
            <a:off x="1577340" y="2194560"/>
            <a:ext cx="548640" cy="548640"/>
          </a:xfrm>
          <a:prstGeom prst="ellipse">
            <a:avLst/>
          </a:prstGeom>
          <a:solidFill>
            <a:srgbClr val="3D5AFE"/>
          </a:solidFill>
          <a:ln/>
        </p:spPr>
      </p:sp>
      <p:sp>
        <p:nvSpPr>
          <p:cNvPr id="6" name="Text 4"/>
          <p:cNvSpPr txBox="1"/>
          <p:nvPr/>
        </p:nvSpPr>
        <p:spPr>
          <a:xfrm>
            <a:off x="1577340" y="21945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731520" y="2971800"/>
            <a:ext cx="224028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Advocate</a:t>
            </a:r>
            <a:endParaRPr lang="en-US" sz="1500" dirty="0"/>
          </a:p>
        </p:txBody>
      </p:sp>
      <p:sp>
        <p:nvSpPr>
          <p:cNvPr id="8" name="Text 6"/>
          <p:cNvSpPr txBox="1"/>
          <p:nvPr/>
        </p:nvSpPr>
        <p:spPr>
          <a:xfrm>
            <a:off x="777240" y="3566160"/>
            <a:ext cx="2148840" cy="1280160"/>
          </a:xfrm>
          <a:prstGeom prst="rect">
            <a:avLst/>
          </a:prstGeom>
          <a:noFill/>
          <a:ln/>
        </p:spPr>
        <p:txBody>
          <a:bodyPr wrap="square" lIns="0" tIns="0" rIns="0" bIns="0"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Argues in favor of the applicant / case</a:t>
            </a:r>
            <a:endParaRPr lang="en-US" sz="1150" dirty="0"/>
          </a:p>
        </p:txBody>
      </p:sp>
      <p:sp>
        <p:nvSpPr>
          <p:cNvPr id="9" name="Shape 7"/>
          <p:cNvSpPr/>
          <p:nvPr/>
        </p:nvSpPr>
        <p:spPr>
          <a:xfrm>
            <a:off x="3410712" y="1920240"/>
            <a:ext cx="2606040" cy="3017520"/>
          </a:xfrm>
          <a:prstGeom prst="roundRect">
            <a:avLst>
              <a:gd name="adj" fmla="val 4211"/>
            </a:avLst>
          </a:prstGeom>
          <a:solidFill>
            <a:srgbClr val="263876"/>
          </a:solidFill>
          <a:ln/>
        </p:spPr>
      </p:sp>
      <p:sp>
        <p:nvSpPr>
          <p:cNvPr id="10" name="Shape 8"/>
          <p:cNvSpPr/>
          <p:nvPr/>
        </p:nvSpPr>
        <p:spPr>
          <a:xfrm>
            <a:off x="4439412" y="2194560"/>
            <a:ext cx="548640" cy="548640"/>
          </a:xfrm>
          <a:prstGeom prst="ellipse">
            <a:avLst/>
          </a:prstGeom>
          <a:solidFill>
            <a:srgbClr val="3D5AFE"/>
          </a:solidFill>
          <a:ln/>
        </p:spPr>
      </p:sp>
      <p:sp>
        <p:nvSpPr>
          <p:cNvPr id="11" name="Text 9"/>
          <p:cNvSpPr txBox="1"/>
          <p:nvPr/>
        </p:nvSpPr>
        <p:spPr>
          <a:xfrm>
            <a:off x="4439412" y="21945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3593592" y="2971800"/>
            <a:ext cx="224028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Skeptic</a:t>
            </a:r>
            <a:endParaRPr lang="en-US" sz="1500" dirty="0"/>
          </a:p>
        </p:txBody>
      </p:sp>
      <p:sp>
        <p:nvSpPr>
          <p:cNvPr id="13" name="Text 11"/>
          <p:cNvSpPr txBox="1"/>
          <p:nvPr/>
        </p:nvSpPr>
        <p:spPr>
          <a:xfrm>
            <a:off x="3639312" y="3566160"/>
            <a:ext cx="2148840" cy="1280160"/>
          </a:xfrm>
          <a:prstGeom prst="rect">
            <a:avLst/>
          </a:prstGeom>
          <a:noFill/>
          <a:ln/>
        </p:spPr>
        <p:txBody>
          <a:bodyPr wrap="square" lIns="0" tIns="0" rIns="0" bIns="0"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Raises counterpoints, challenges weak reasoning</a:t>
            </a:r>
            <a:endParaRPr lang="en-US" sz="1150" dirty="0"/>
          </a:p>
        </p:txBody>
      </p:sp>
      <p:sp>
        <p:nvSpPr>
          <p:cNvPr id="14" name="Shape 12"/>
          <p:cNvSpPr/>
          <p:nvPr/>
        </p:nvSpPr>
        <p:spPr>
          <a:xfrm>
            <a:off x="6272784" y="1920240"/>
            <a:ext cx="2606040" cy="3017520"/>
          </a:xfrm>
          <a:prstGeom prst="roundRect">
            <a:avLst>
              <a:gd name="adj" fmla="val 4211"/>
            </a:avLst>
          </a:prstGeom>
          <a:solidFill>
            <a:srgbClr val="263876"/>
          </a:solidFill>
          <a:ln/>
        </p:spPr>
      </p:sp>
      <p:sp>
        <p:nvSpPr>
          <p:cNvPr id="15" name="Shape 13"/>
          <p:cNvSpPr/>
          <p:nvPr/>
        </p:nvSpPr>
        <p:spPr>
          <a:xfrm>
            <a:off x="7301484" y="2194560"/>
            <a:ext cx="548640" cy="548640"/>
          </a:xfrm>
          <a:prstGeom prst="ellipse">
            <a:avLst/>
          </a:prstGeom>
          <a:solidFill>
            <a:srgbClr val="3D5AFE"/>
          </a:solidFill>
          <a:ln/>
        </p:spPr>
      </p:sp>
      <p:sp>
        <p:nvSpPr>
          <p:cNvPr id="16" name="Text 14"/>
          <p:cNvSpPr txBox="1"/>
          <p:nvPr/>
        </p:nvSpPr>
        <p:spPr>
          <a:xfrm>
            <a:off x="7301484" y="21945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6455664" y="2971800"/>
            <a:ext cx="224028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Compliance-Checker</a:t>
            </a:r>
            <a:endParaRPr lang="en-US" sz="1500" dirty="0"/>
          </a:p>
        </p:txBody>
      </p:sp>
      <p:sp>
        <p:nvSpPr>
          <p:cNvPr id="18" name="Text 16"/>
          <p:cNvSpPr txBox="1"/>
          <p:nvPr/>
        </p:nvSpPr>
        <p:spPr>
          <a:xfrm>
            <a:off x="6501384" y="3566160"/>
            <a:ext cx="2148840" cy="1280160"/>
          </a:xfrm>
          <a:prstGeom prst="rect">
            <a:avLst/>
          </a:prstGeom>
          <a:noFill/>
          <a:ln/>
        </p:spPr>
        <p:txBody>
          <a:bodyPr wrap="square" lIns="0" tIns="0" rIns="0" bIns="0"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Flags policy or fairness violations</a:t>
            </a:r>
            <a:endParaRPr lang="en-US" sz="1150" dirty="0"/>
          </a:p>
        </p:txBody>
      </p:sp>
      <p:sp>
        <p:nvSpPr>
          <p:cNvPr id="19" name="Shape 17"/>
          <p:cNvSpPr/>
          <p:nvPr/>
        </p:nvSpPr>
        <p:spPr>
          <a:xfrm>
            <a:off x="9134856" y="1920240"/>
            <a:ext cx="2606040" cy="3017520"/>
          </a:xfrm>
          <a:prstGeom prst="roundRect">
            <a:avLst>
              <a:gd name="adj" fmla="val 4211"/>
            </a:avLst>
          </a:prstGeom>
          <a:solidFill>
            <a:srgbClr val="263876"/>
          </a:solidFill>
          <a:ln/>
        </p:spPr>
      </p:sp>
      <p:sp>
        <p:nvSpPr>
          <p:cNvPr id="20" name="Shape 18"/>
          <p:cNvSpPr/>
          <p:nvPr/>
        </p:nvSpPr>
        <p:spPr>
          <a:xfrm>
            <a:off x="10163556" y="2194560"/>
            <a:ext cx="548640" cy="548640"/>
          </a:xfrm>
          <a:prstGeom prst="ellipse">
            <a:avLst/>
          </a:prstGeom>
          <a:solidFill>
            <a:srgbClr val="3D5AFE"/>
          </a:solidFill>
          <a:ln/>
        </p:spPr>
      </p:sp>
      <p:sp>
        <p:nvSpPr>
          <p:cNvPr id="21" name="Text 19"/>
          <p:cNvSpPr txBox="1"/>
          <p:nvPr/>
        </p:nvSpPr>
        <p:spPr>
          <a:xfrm>
            <a:off x="10163556" y="21945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9317736" y="2971800"/>
            <a:ext cx="224028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Adjudicator</a:t>
            </a:r>
            <a:endParaRPr lang="en-US" sz="1500" dirty="0"/>
          </a:p>
        </p:txBody>
      </p:sp>
      <p:sp>
        <p:nvSpPr>
          <p:cNvPr id="23" name="Text 21"/>
          <p:cNvSpPr txBox="1"/>
          <p:nvPr/>
        </p:nvSpPr>
        <p:spPr>
          <a:xfrm>
            <a:off x="9363456" y="3566160"/>
            <a:ext cx="2148840" cy="1280160"/>
          </a:xfrm>
          <a:prstGeom prst="rect">
            <a:avLst/>
          </a:prstGeom>
          <a:noFill/>
          <a:ln/>
        </p:spPr>
        <p:txBody>
          <a:bodyPr wrap="square" lIns="0" tIns="0" rIns="0" bIns="0"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Synthesizes debate into a final, justified decision</a:t>
            </a:r>
            <a:endParaRPr lang="en-US" sz="1150" dirty="0"/>
          </a:p>
        </p:txBody>
      </p:sp>
      <p:sp>
        <p:nvSpPr>
          <p:cNvPr id="24" name="Text 22"/>
          <p:cNvSpPr txBox="1"/>
          <p:nvPr/>
        </p:nvSpPr>
        <p:spPr>
          <a:xfrm>
            <a:off x="548640" y="5257800"/>
            <a:ext cx="11064240" cy="548640"/>
          </a:xfrm>
          <a:prstGeom prst="rect">
            <a:avLst/>
          </a:prstGeom>
          <a:noFill/>
          <a:ln/>
        </p:spPr>
        <p:txBody>
          <a:bodyPr wrap="square" lIns="0" tIns="0" rIns="0" bIns="0" rtlCol="0" anchor="ctr"/>
          <a:lstStyle/>
          <a:p>
            <a:pPr marL="0" indent="0" algn="ctr">
              <a:buNone/>
            </a:pPr>
            <a:r>
              <a:rPr lang="en-US" sz="1300" i="1" dirty="0">
                <a:solidFill>
                  <a:srgbClr val="CADCFC"/>
                </a:solidFill>
                <a:latin typeface="Calibri" pitchFamily="34" charset="0"/>
                <a:ea typeface="Calibri" pitchFamily="34" charset="-122"/>
                <a:cs typeface="Calibri" pitchFamily="34" charset="-120"/>
              </a:rPr>
              <a:t>Built with CrewAI / AutoGen  •  structured debate rounds  •  JSON transcript logging  •  bias probes on synthetic datasets</a:t>
            </a:r>
            <a:endParaRPr lang="en-US" sz="1300" dirty="0"/>
          </a:p>
        </p:txBody>
      </p:sp>
      <p:sp>
        <p:nvSpPr>
          <p:cNvPr id="25" name="Text 23"/>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TECHNICAL STACK</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Tools &amp; Technologies Powering the System</a:t>
            </a:r>
            <a:endParaRPr lang="en-US" sz="2800" dirty="0"/>
          </a:p>
        </p:txBody>
      </p:sp>
      <p:sp>
        <p:nvSpPr>
          <p:cNvPr id="4" name="Shape 2"/>
          <p:cNvSpPr/>
          <p:nvPr/>
        </p:nvSpPr>
        <p:spPr>
          <a:xfrm>
            <a:off x="548640" y="1828800"/>
            <a:ext cx="3520440" cy="1965960"/>
          </a:xfrm>
          <a:prstGeom prst="roundRect">
            <a:avLst>
              <a:gd name="adj" fmla="val 4651"/>
            </a:avLst>
          </a:prstGeom>
          <a:solidFill>
            <a:srgbClr val="F4F6FC"/>
          </a:solidFill>
          <a:ln/>
        </p:spPr>
      </p:sp>
      <p:sp>
        <p:nvSpPr>
          <p:cNvPr id="5" name="Shape 3"/>
          <p:cNvSpPr/>
          <p:nvPr/>
        </p:nvSpPr>
        <p:spPr>
          <a:xfrm>
            <a:off x="804672" y="2084832"/>
            <a:ext cx="457200" cy="457200"/>
          </a:xfrm>
          <a:prstGeom prst="ellipse">
            <a:avLst/>
          </a:prstGeom>
          <a:solidFill>
            <a:srgbClr val="1E2761"/>
          </a:solidFill>
          <a:ln/>
        </p:spPr>
      </p:sp>
      <p:sp>
        <p:nvSpPr>
          <p:cNvPr id="6" name="Text 4"/>
          <p:cNvSpPr txBox="1"/>
          <p:nvPr/>
        </p:nvSpPr>
        <p:spPr>
          <a:xfrm>
            <a:off x="804672" y="208483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49808" y="2724912"/>
            <a:ext cx="3118104" cy="45720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Orchestration</a:t>
            </a:r>
            <a:endParaRPr lang="en-US" sz="1400" dirty="0"/>
          </a:p>
        </p:txBody>
      </p:sp>
      <p:sp>
        <p:nvSpPr>
          <p:cNvPr id="8" name="Text 6"/>
          <p:cNvSpPr txBox="1"/>
          <p:nvPr/>
        </p:nvSpPr>
        <p:spPr>
          <a:xfrm>
            <a:off x="749808" y="3127248"/>
            <a:ext cx="3118104" cy="594360"/>
          </a:xfrm>
          <a:prstGeom prst="rect">
            <a:avLst/>
          </a:prstGeom>
          <a:noFill/>
          <a:ln/>
        </p:spPr>
        <p:txBody>
          <a:bodyPr wrap="square" lIns="0" tIns="0" rIns="0" bIns="0" rtlCol="0" anchor="ctr"/>
          <a:lstStyle/>
          <a:p>
            <a:pPr marL="0" indent="0">
              <a:lnSpc>
                <a:spcPct val="120000"/>
              </a:lnSpc>
              <a:buNone/>
            </a:pPr>
            <a:r>
              <a:rPr lang="en-US" sz="1100" dirty="0">
                <a:solidFill>
                  <a:srgbClr val="5A6478"/>
                </a:solidFill>
                <a:latin typeface="Calibri" pitchFamily="34" charset="0"/>
                <a:ea typeface="Calibri" pitchFamily="34" charset="-122"/>
                <a:cs typeface="Calibri" pitchFamily="34" charset="-120"/>
              </a:rPr>
              <a:t>CrewAI and AutoGen for role-based multi-agent coordination</a:t>
            </a:r>
            <a:endParaRPr lang="en-US" sz="1100" dirty="0"/>
          </a:p>
        </p:txBody>
      </p:sp>
      <p:sp>
        <p:nvSpPr>
          <p:cNvPr id="9" name="Shape 7"/>
          <p:cNvSpPr/>
          <p:nvPr/>
        </p:nvSpPr>
        <p:spPr>
          <a:xfrm>
            <a:off x="4334256" y="1828800"/>
            <a:ext cx="3520440" cy="1965960"/>
          </a:xfrm>
          <a:prstGeom prst="roundRect">
            <a:avLst>
              <a:gd name="adj" fmla="val 4651"/>
            </a:avLst>
          </a:prstGeom>
          <a:solidFill>
            <a:srgbClr val="F4F6FC"/>
          </a:solidFill>
          <a:ln/>
        </p:spPr>
      </p:sp>
      <p:sp>
        <p:nvSpPr>
          <p:cNvPr id="10" name="Shape 8"/>
          <p:cNvSpPr/>
          <p:nvPr/>
        </p:nvSpPr>
        <p:spPr>
          <a:xfrm>
            <a:off x="4590288" y="2084832"/>
            <a:ext cx="457200" cy="457200"/>
          </a:xfrm>
          <a:prstGeom prst="ellipse">
            <a:avLst/>
          </a:prstGeom>
          <a:solidFill>
            <a:srgbClr val="1E2761"/>
          </a:solidFill>
          <a:ln/>
        </p:spPr>
      </p:sp>
      <p:sp>
        <p:nvSpPr>
          <p:cNvPr id="11" name="Text 9"/>
          <p:cNvSpPr txBox="1"/>
          <p:nvPr/>
        </p:nvSpPr>
        <p:spPr>
          <a:xfrm>
            <a:off x="4590288" y="208483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535424" y="2724912"/>
            <a:ext cx="3118104" cy="45720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Language Models</a:t>
            </a:r>
            <a:endParaRPr lang="en-US" sz="1400" dirty="0"/>
          </a:p>
        </p:txBody>
      </p:sp>
      <p:sp>
        <p:nvSpPr>
          <p:cNvPr id="13" name="Text 11"/>
          <p:cNvSpPr txBox="1"/>
          <p:nvPr/>
        </p:nvSpPr>
        <p:spPr>
          <a:xfrm>
            <a:off x="4535424" y="3127248"/>
            <a:ext cx="3118104" cy="594360"/>
          </a:xfrm>
          <a:prstGeom prst="rect">
            <a:avLst/>
          </a:prstGeom>
          <a:noFill/>
          <a:ln/>
        </p:spPr>
        <p:txBody>
          <a:bodyPr wrap="square" lIns="0" tIns="0" rIns="0" bIns="0" rtlCol="0" anchor="ctr"/>
          <a:lstStyle/>
          <a:p>
            <a:pPr marL="0" indent="0">
              <a:lnSpc>
                <a:spcPct val="120000"/>
              </a:lnSpc>
              <a:buNone/>
            </a:pPr>
            <a:r>
              <a:rPr lang="en-US" sz="1100" dirty="0">
                <a:solidFill>
                  <a:srgbClr val="5A6478"/>
                </a:solidFill>
                <a:latin typeface="Calibri" pitchFamily="34" charset="0"/>
                <a:ea typeface="Calibri" pitchFamily="34" charset="-122"/>
                <a:cs typeface="Calibri" pitchFamily="34" charset="-120"/>
              </a:rPr>
              <a:t>LLM API backend (GPT-4 / Claude) powering each agent</a:t>
            </a:r>
            <a:endParaRPr lang="en-US" sz="1100" dirty="0"/>
          </a:p>
        </p:txBody>
      </p:sp>
      <p:sp>
        <p:nvSpPr>
          <p:cNvPr id="14" name="Shape 12"/>
          <p:cNvSpPr/>
          <p:nvPr/>
        </p:nvSpPr>
        <p:spPr>
          <a:xfrm>
            <a:off x="8119872" y="1828800"/>
            <a:ext cx="3520440" cy="1965960"/>
          </a:xfrm>
          <a:prstGeom prst="roundRect">
            <a:avLst>
              <a:gd name="adj" fmla="val 4651"/>
            </a:avLst>
          </a:prstGeom>
          <a:solidFill>
            <a:srgbClr val="F4F6FC"/>
          </a:solidFill>
          <a:ln/>
        </p:spPr>
      </p:sp>
      <p:sp>
        <p:nvSpPr>
          <p:cNvPr id="15" name="Shape 13"/>
          <p:cNvSpPr/>
          <p:nvPr/>
        </p:nvSpPr>
        <p:spPr>
          <a:xfrm>
            <a:off x="8375904" y="2084832"/>
            <a:ext cx="457200" cy="457200"/>
          </a:xfrm>
          <a:prstGeom prst="ellipse">
            <a:avLst/>
          </a:prstGeom>
          <a:solidFill>
            <a:srgbClr val="1E2761"/>
          </a:solidFill>
          <a:ln/>
        </p:spPr>
      </p:sp>
      <p:sp>
        <p:nvSpPr>
          <p:cNvPr id="16" name="Text 14"/>
          <p:cNvSpPr txBox="1"/>
          <p:nvPr/>
        </p:nvSpPr>
        <p:spPr>
          <a:xfrm>
            <a:off x="8375904" y="208483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8321040" y="2724912"/>
            <a:ext cx="3118104" cy="45720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Programming</a:t>
            </a:r>
            <a:endParaRPr lang="en-US" sz="1400" dirty="0"/>
          </a:p>
        </p:txBody>
      </p:sp>
      <p:sp>
        <p:nvSpPr>
          <p:cNvPr id="18" name="Text 16"/>
          <p:cNvSpPr txBox="1"/>
          <p:nvPr/>
        </p:nvSpPr>
        <p:spPr>
          <a:xfrm>
            <a:off x="8321040" y="3127248"/>
            <a:ext cx="3118104" cy="594360"/>
          </a:xfrm>
          <a:prstGeom prst="rect">
            <a:avLst/>
          </a:prstGeom>
          <a:noFill/>
          <a:ln/>
        </p:spPr>
        <p:txBody>
          <a:bodyPr wrap="square" lIns="0" tIns="0" rIns="0" bIns="0" rtlCol="0" anchor="ctr"/>
          <a:lstStyle/>
          <a:p>
            <a:pPr marL="0" indent="0">
              <a:lnSpc>
                <a:spcPct val="120000"/>
              </a:lnSpc>
              <a:buNone/>
            </a:pPr>
            <a:r>
              <a:rPr lang="en-US" sz="1100" dirty="0">
                <a:solidFill>
                  <a:srgbClr val="5A6478"/>
                </a:solidFill>
                <a:latin typeface="Calibri" pitchFamily="34" charset="0"/>
                <a:ea typeface="Calibri" pitchFamily="34" charset="-122"/>
                <a:cs typeface="Calibri" pitchFamily="34" charset="-120"/>
              </a:rPr>
              <a:t>Python 3.11 as the core implementation language</a:t>
            </a:r>
            <a:endParaRPr lang="en-US" sz="1100" dirty="0"/>
          </a:p>
        </p:txBody>
      </p:sp>
      <p:sp>
        <p:nvSpPr>
          <p:cNvPr id="19" name="Shape 17"/>
          <p:cNvSpPr/>
          <p:nvPr/>
        </p:nvSpPr>
        <p:spPr>
          <a:xfrm>
            <a:off x="548640" y="4069080"/>
            <a:ext cx="3520440" cy="1965960"/>
          </a:xfrm>
          <a:prstGeom prst="roundRect">
            <a:avLst>
              <a:gd name="adj" fmla="val 4651"/>
            </a:avLst>
          </a:prstGeom>
          <a:solidFill>
            <a:srgbClr val="F4F6FC"/>
          </a:solidFill>
          <a:ln/>
        </p:spPr>
      </p:sp>
      <p:sp>
        <p:nvSpPr>
          <p:cNvPr id="20" name="Shape 18"/>
          <p:cNvSpPr/>
          <p:nvPr/>
        </p:nvSpPr>
        <p:spPr>
          <a:xfrm>
            <a:off x="804672" y="4325112"/>
            <a:ext cx="457200" cy="457200"/>
          </a:xfrm>
          <a:prstGeom prst="ellipse">
            <a:avLst/>
          </a:prstGeom>
          <a:solidFill>
            <a:srgbClr val="1E2761"/>
          </a:solidFill>
          <a:ln/>
        </p:spPr>
      </p:sp>
      <p:sp>
        <p:nvSpPr>
          <p:cNvPr id="21" name="Text 19"/>
          <p:cNvSpPr txBox="1"/>
          <p:nvPr/>
        </p:nvSpPr>
        <p:spPr>
          <a:xfrm>
            <a:off x="804672" y="4325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749808" y="4965192"/>
            <a:ext cx="3118104" cy="45720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Data &amp; Logging</a:t>
            </a:r>
            <a:endParaRPr lang="en-US" sz="1400" dirty="0"/>
          </a:p>
        </p:txBody>
      </p:sp>
      <p:sp>
        <p:nvSpPr>
          <p:cNvPr id="23" name="Text 21"/>
          <p:cNvSpPr txBox="1"/>
          <p:nvPr/>
        </p:nvSpPr>
        <p:spPr>
          <a:xfrm>
            <a:off x="749808" y="5367528"/>
            <a:ext cx="3118104" cy="594360"/>
          </a:xfrm>
          <a:prstGeom prst="rect">
            <a:avLst/>
          </a:prstGeom>
          <a:noFill/>
          <a:ln/>
        </p:spPr>
        <p:txBody>
          <a:bodyPr wrap="square" lIns="0" tIns="0" rIns="0" bIns="0" rtlCol="0" anchor="ctr"/>
          <a:lstStyle/>
          <a:p>
            <a:pPr marL="0" indent="0">
              <a:lnSpc>
                <a:spcPct val="120000"/>
              </a:lnSpc>
              <a:buNone/>
            </a:pPr>
            <a:r>
              <a:rPr lang="en-US" sz="1100" dirty="0">
                <a:solidFill>
                  <a:srgbClr val="5A6478"/>
                </a:solidFill>
                <a:latin typeface="Calibri" pitchFamily="34" charset="0"/>
                <a:ea typeface="Calibri" pitchFamily="34" charset="-122"/>
                <a:cs typeface="Calibri" pitchFamily="34" charset="-120"/>
              </a:rPr>
              <a:t>Pandas for data handling; structured JSON transcript logs</a:t>
            </a:r>
            <a:endParaRPr lang="en-US" sz="1100" dirty="0"/>
          </a:p>
        </p:txBody>
      </p:sp>
      <p:sp>
        <p:nvSpPr>
          <p:cNvPr id="24" name="Shape 22"/>
          <p:cNvSpPr/>
          <p:nvPr/>
        </p:nvSpPr>
        <p:spPr>
          <a:xfrm>
            <a:off x="4334256" y="4069080"/>
            <a:ext cx="3520440" cy="1965960"/>
          </a:xfrm>
          <a:prstGeom prst="roundRect">
            <a:avLst>
              <a:gd name="adj" fmla="val 4651"/>
            </a:avLst>
          </a:prstGeom>
          <a:solidFill>
            <a:srgbClr val="F4F6FC"/>
          </a:solidFill>
          <a:ln/>
        </p:spPr>
      </p:sp>
      <p:sp>
        <p:nvSpPr>
          <p:cNvPr id="25" name="Shape 23"/>
          <p:cNvSpPr/>
          <p:nvPr/>
        </p:nvSpPr>
        <p:spPr>
          <a:xfrm>
            <a:off x="4590288" y="4325112"/>
            <a:ext cx="457200" cy="457200"/>
          </a:xfrm>
          <a:prstGeom prst="ellipse">
            <a:avLst/>
          </a:prstGeom>
          <a:solidFill>
            <a:srgbClr val="1E2761"/>
          </a:solidFill>
          <a:ln/>
        </p:spPr>
      </p:sp>
      <p:sp>
        <p:nvSpPr>
          <p:cNvPr id="26" name="Text 24"/>
          <p:cNvSpPr txBox="1"/>
          <p:nvPr/>
        </p:nvSpPr>
        <p:spPr>
          <a:xfrm>
            <a:off x="4590288" y="4325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4535424" y="4965192"/>
            <a:ext cx="3118104" cy="45720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Datasets</a:t>
            </a:r>
            <a:endParaRPr lang="en-US" sz="1400" dirty="0"/>
          </a:p>
        </p:txBody>
      </p:sp>
      <p:sp>
        <p:nvSpPr>
          <p:cNvPr id="28" name="Text 26"/>
          <p:cNvSpPr txBox="1"/>
          <p:nvPr/>
        </p:nvSpPr>
        <p:spPr>
          <a:xfrm>
            <a:off x="4535424" y="5367528"/>
            <a:ext cx="3118104" cy="594360"/>
          </a:xfrm>
          <a:prstGeom prst="rect">
            <a:avLst/>
          </a:prstGeom>
          <a:noFill/>
          <a:ln/>
        </p:spPr>
        <p:txBody>
          <a:bodyPr wrap="square" lIns="0" tIns="0" rIns="0" bIns="0" rtlCol="0" anchor="ctr"/>
          <a:lstStyle/>
          <a:p>
            <a:pPr marL="0" indent="0">
              <a:lnSpc>
                <a:spcPct val="120000"/>
              </a:lnSpc>
              <a:buNone/>
            </a:pPr>
            <a:r>
              <a:rPr lang="en-US" sz="1100" dirty="0">
                <a:solidFill>
                  <a:srgbClr val="5A6478"/>
                </a:solidFill>
                <a:latin typeface="Calibri" pitchFamily="34" charset="0"/>
                <a:ea typeface="Calibri" pitchFamily="34" charset="-122"/>
                <a:cs typeface="Calibri" pitchFamily="34" charset="-120"/>
              </a:rPr>
              <a:t>Synthetic loan &amp; admissions data (German Credit, Adult Income)</a:t>
            </a:r>
            <a:endParaRPr lang="en-US" sz="1100" dirty="0"/>
          </a:p>
        </p:txBody>
      </p:sp>
      <p:sp>
        <p:nvSpPr>
          <p:cNvPr id="29" name="Shape 27"/>
          <p:cNvSpPr/>
          <p:nvPr/>
        </p:nvSpPr>
        <p:spPr>
          <a:xfrm>
            <a:off x="8119872" y="4069080"/>
            <a:ext cx="3520440" cy="1965960"/>
          </a:xfrm>
          <a:prstGeom prst="roundRect">
            <a:avLst>
              <a:gd name="adj" fmla="val 4651"/>
            </a:avLst>
          </a:prstGeom>
          <a:solidFill>
            <a:srgbClr val="F4F6FC"/>
          </a:solidFill>
          <a:ln/>
        </p:spPr>
      </p:sp>
      <p:sp>
        <p:nvSpPr>
          <p:cNvPr id="30" name="Shape 28"/>
          <p:cNvSpPr/>
          <p:nvPr/>
        </p:nvSpPr>
        <p:spPr>
          <a:xfrm>
            <a:off x="8375904" y="4325112"/>
            <a:ext cx="457200" cy="457200"/>
          </a:xfrm>
          <a:prstGeom prst="ellipse">
            <a:avLst/>
          </a:prstGeom>
          <a:solidFill>
            <a:srgbClr val="1E2761"/>
          </a:solidFill>
          <a:ln/>
        </p:spPr>
      </p:sp>
      <p:sp>
        <p:nvSpPr>
          <p:cNvPr id="31" name="Text 29"/>
          <p:cNvSpPr txBox="1"/>
          <p:nvPr/>
        </p:nvSpPr>
        <p:spPr>
          <a:xfrm>
            <a:off x="8375904" y="4325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8321040" y="4965192"/>
            <a:ext cx="3118104" cy="45720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Dev &amp; Version Control</a:t>
            </a:r>
            <a:endParaRPr lang="en-US" sz="1400" dirty="0"/>
          </a:p>
        </p:txBody>
      </p:sp>
      <p:sp>
        <p:nvSpPr>
          <p:cNvPr id="33" name="Text 31"/>
          <p:cNvSpPr txBox="1"/>
          <p:nvPr/>
        </p:nvSpPr>
        <p:spPr>
          <a:xfrm>
            <a:off x="8321040" y="5367528"/>
            <a:ext cx="3118104" cy="594360"/>
          </a:xfrm>
          <a:prstGeom prst="rect">
            <a:avLst/>
          </a:prstGeom>
          <a:noFill/>
          <a:ln/>
        </p:spPr>
        <p:txBody>
          <a:bodyPr wrap="square" lIns="0" tIns="0" rIns="0" bIns="0" rtlCol="0" anchor="ctr"/>
          <a:lstStyle/>
          <a:p>
            <a:pPr marL="0" indent="0">
              <a:lnSpc>
                <a:spcPct val="120000"/>
              </a:lnSpc>
              <a:buNone/>
            </a:pPr>
            <a:r>
              <a:rPr lang="en-US" sz="1100" dirty="0">
                <a:solidFill>
                  <a:srgbClr val="5A6478"/>
                </a:solidFill>
                <a:latin typeface="Calibri" pitchFamily="34" charset="0"/>
                <a:ea typeface="Calibri" pitchFamily="34" charset="-122"/>
                <a:cs typeface="Calibri" pitchFamily="34" charset="-120"/>
              </a:rPr>
              <a:t>VS Code for development; Git / GitHub for versioning</a:t>
            </a:r>
            <a:endParaRPr lang="en-US" sz="1100" dirty="0"/>
          </a:p>
        </p:txBody>
      </p:sp>
      <p:sp>
        <p:nvSpPr>
          <p:cNvPr id="34" name="Text 32"/>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OBJECTIVES</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What This Project Sets Out to Do</a:t>
            </a:r>
            <a:endParaRPr lang="en-US" sz="3000" dirty="0"/>
          </a:p>
        </p:txBody>
      </p:sp>
      <p:sp>
        <p:nvSpPr>
          <p:cNvPr id="4" name="Shape 2"/>
          <p:cNvSpPr/>
          <p:nvPr/>
        </p:nvSpPr>
        <p:spPr>
          <a:xfrm>
            <a:off x="548640" y="1965960"/>
            <a:ext cx="502920" cy="502920"/>
          </a:xfrm>
          <a:prstGeom prst="roundRect">
            <a:avLst>
              <a:gd name="adj" fmla="val 14545"/>
            </a:avLst>
          </a:prstGeom>
          <a:solidFill>
            <a:srgbClr val="1E2761"/>
          </a:solidFill>
          <a:ln/>
        </p:spPr>
      </p:sp>
      <p:sp>
        <p:nvSpPr>
          <p:cNvPr id="5" name="Text 3"/>
          <p:cNvSpPr txBox="1"/>
          <p:nvPr/>
        </p:nvSpPr>
        <p:spPr>
          <a:xfrm>
            <a:off x="54864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947672"/>
            <a:ext cx="1033272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Design a role-based multi-agent debate protocol for decision-making tasks</a:t>
            </a:r>
            <a:endParaRPr lang="en-US" sz="1450" dirty="0"/>
          </a:p>
        </p:txBody>
      </p:sp>
      <p:sp>
        <p:nvSpPr>
          <p:cNvPr id="7" name="Shape 5"/>
          <p:cNvSpPr/>
          <p:nvPr/>
        </p:nvSpPr>
        <p:spPr>
          <a:xfrm>
            <a:off x="548640" y="2743200"/>
            <a:ext cx="502920" cy="502920"/>
          </a:xfrm>
          <a:prstGeom prst="roundRect">
            <a:avLst>
              <a:gd name="adj" fmla="val 14545"/>
            </a:avLst>
          </a:prstGeom>
          <a:solidFill>
            <a:srgbClr val="1E2761"/>
          </a:solidFill>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34440" y="2724912"/>
            <a:ext cx="1033272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Implement transparent, structured logging of agent reasoning as JSON transcripts</a:t>
            </a:r>
            <a:endParaRPr lang="en-US" sz="1450" dirty="0"/>
          </a:p>
        </p:txBody>
      </p:sp>
      <p:sp>
        <p:nvSpPr>
          <p:cNvPr id="10" name="Shape 8"/>
          <p:cNvSpPr/>
          <p:nvPr/>
        </p:nvSpPr>
        <p:spPr>
          <a:xfrm>
            <a:off x="548640" y="3520440"/>
            <a:ext cx="502920" cy="502920"/>
          </a:xfrm>
          <a:prstGeom prst="roundRect">
            <a:avLst>
              <a:gd name="adj" fmla="val 14545"/>
            </a:avLst>
          </a:prstGeom>
          <a:solidFill>
            <a:srgbClr val="1E2761"/>
          </a:solidFill>
          <a:ln/>
        </p:spPr>
      </p:sp>
      <p:sp>
        <p:nvSpPr>
          <p:cNvPr id="11" name="Text 9"/>
          <p:cNvSpPr txBox="1"/>
          <p:nvPr/>
        </p:nvSpPr>
        <p:spPr>
          <a:xfrm>
            <a:off x="548640" y="35204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234440" y="3502152"/>
            <a:ext cx="1033272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Evaluate decision quality and consistency against single-agent baselines</a:t>
            </a:r>
            <a:endParaRPr lang="en-US" sz="1450" dirty="0"/>
          </a:p>
        </p:txBody>
      </p:sp>
      <p:sp>
        <p:nvSpPr>
          <p:cNvPr id="13" name="Shape 11"/>
          <p:cNvSpPr/>
          <p:nvPr/>
        </p:nvSpPr>
        <p:spPr>
          <a:xfrm>
            <a:off x="548640" y="4297680"/>
            <a:ext cx="502920" cy="502920"/>
          </a:xfrm>
          <a:prstGeom prst="roundRect">
            <a:avLst>
              <a:gd name="adj" fmla="val 14545"/>
            </a:avLst>
          </a:prstGeom>
          <a:solidFill>
            <a:srgbClr val="1E2761"/>
          </a:solidFill>
          <a:ln/>
        </p:spPr>
      </p:sp>
      <p:sp>
        <p:nvSpPr>
          <p:cNvPr id="14" name="Text 12"/>
          <p:cNvSpPr txBox="1"/>
          <p:nvPr/>
        </p:nvSpPr>
        <p:spPr>
          <a:xfrm>
            <a:off x="548640" y="42976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234440" y="4279392"/>
            <a:ext cx="1033272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Probe the system for bias using synthetic loan and admissions datasets</a:t>
            </a:r>
            <a:endParaRPr lang="en-US" sz="1450" dirty="0"/>
          </a:p>
        </p:txBody>
      </p:sp>
      <p:sp>
        <p:nvSpPr>
          <p:cNvPr id="16" name="Shape 14"/>
          <p:cNvSpPr/>
          <p:nvPr/>
        </p:nvSpPr>
        <p:spPr>
          <a:xfrm>
            <a:off x="548640" y="5074920"/>
            <a:ext cx="502920" cy="502920"/>
          </a:xfrm>
          <a:prstGeom prst="roundRect">
            <a:avLst>
              <a:gd name="adj" fmla="val 14545"/>
            </a:avLst>
          </a:prstGeom>
          <a:solidFill>
            <a:srgbClr val="1E2761"/>
          </a:solidFill>
          <a:ln/>
        </p:spPr>
      </p:sp>
      <p:sp>
        <p:nvSpPr>
          <p:cNvPr id="17" name="Text 15"/>
          <p:cNvSpPr txBox="1"/>
          <p:nvPr/>
        </p:nvSpPr>
        <p:spPr>
          <a:xfrm>
            <a:off x="548640" y="50749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234440" y="5056632"/>
            <a:ext cx="1033272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Assess whether debate improves fairness and explainability over black-box models</a:t>
            </a:r>
            <a:endParaRPr lang="en-US" sz="1450" dirty="0"/>
          </a:p>
        </p:txBody>
      </p:sp>
      <p:sp>
        <p:nvSpPr>
          <p:cNvPr id="19" name="Text 17"/>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Debate-Driven Decision Workflow</a:t>
            </a:r>
            <a:endParaRPr lang="en-US" sz="3000" dirty="0"/>
          </a:p>
        </p:txBody>
      </p:sp>
      <p:sp>
        <p:nvSpPr>
          <p:cNvPr id="4" name="Shape 2"/>
          <p:cNvSpPr/>
          <p:nvPr/>
        </p:nvSpPr>
        <p:spPr>
          <a:xfrm>
            <a:off x="448056" y="2377440"/>
            <a:ext cx="1691640" cy="1280160"/>
          </a:xfrm>
          <a:prstGeom prst="roundRect">
            <a:avLst>
              <a:gd name="adj" fmla="val 7143"/>
            </a:avLst>
          </a:prstGeom>
          <a:solidFill>
            <a:srgbClr val="1E2761"/>
          </a:solidFill>
          <a:ln/>
        </p:spPr>
      </p:sp>
      <p:sp>
        <p:nvSpPr>
          <p:cNvPr id="5" name="Text 3"/>
          <p:cNvSpPr txBox="1"/>
          <p:nvPr/>
        </p:nvSpPr>
        <p:spPr>
          <a:xfrm>
            <a:off x="448056" y="2377440"/>
            <a:ext cx="1691640" cy="128016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Input Case</a:t>
            </a:r>
            <a:endParaRPr lang="en-US" sz="1200" dirty="0"/>
          </a:p>
        </p:txBody>
      </p:sp>
      <p:sp>
        <p:nvSpPr>
          <p:cNvPr id="6" name="Text 4"/>
          <p:cNvSpPr txBox="1"/>
          <p:nvPr/>
        </p:nvSpPr>
        <p:spPr>
          <a:xfrm>
            <a:off x="2139696" y="2377440"/>
            <a:ext cx="228600" cy="1280160"/>
          </a:xfrm>
          <a:prstGeom prst="rect">
            <a:avLst/>
          </a:prstGeom>
          <a:noFill/>
          <a:ln/>
        </p:spPr>
        <p:txBody>
          <a:bodyPr wrap="square" lIns="0" tIns="0" rIns="0" bIns="0" rtlCol="0" anchor="ctr"/>
          <a:lstStyle/>
          <a:p>
            <a:pPr marL="0" indent="0" algn="ctr">
              <a:buNone/>
            </a:pPr>
            <a:r>
              <a:rPr lang="en-US" sz="1600" dirty="0">
                <a:solidFill>
                  <a:srgbClr val="5A6478"/>
                </a:solidFill>
                <a:latin typeface="Arial" pitchFamily="34" charset="0"/>
                <a:ea typeface="Arial" pitchFamily="34" charset="-122"/>
                <a:cs typeface="Arial" pitchFamily="34" charset="-120"/>
              </a:rPr>
              <a:t>→</a:t>
            </a:r>
            <a:endParaRPr lang="en-US" sz="1600" dirty="0"/>
          </a:p>
        </p:txBody>
      </p:sp>
      <p:sp>
        <p:nvSpPr>
          <p:cNvPr id="7" name="Shape 5"/>
          <p:cNvSpPr/>
          <p:nvPr/>
        </p:nvSpPr>
        <p:spPr>
          <a:xfrm>
            <a:off x="2368296" y="2377440"/>
            <a:ext cx="1691640" cy="1280160"/>
          </a:xfrm>
          <a:prstGeom prst="roundRect">
            <a:avLst>
              <a:gd name="adj" fmla="val 7143"/>
            </a:avLst>
          </a:prstGeom>
          <a:solidFill>
            <a:srgbClr val="3D4C99"/>
          </a:solidFill>
          <a:ln/>
        </p:spPr>
      </p:sp>
      <p:sp>
        <p:nvSpPr>
          <p:cNvPr id="8" name="Text 6"/>
          <p:cNvSpPr txBox="1"/>
          <p:nvPr/>
        </p:nvSpPr>
        <p:spPr>
          <a:xfrm>
            <a:off x="2368296" y="2377440"/>
            <a:ext cx="1691640" cy="128016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Advocate Argues</a:t>
            </a:r>
            <a:endParaRPr lang="en-US" sz="1200" dirty="0"/>
          </a:p>
        </p:txBody>
      </p:sp>
      <p:sp>
        <p:nvSpPr>
          <p:cNvPr id="9" name="Text 7"/>
          <p:cNvSpPr txBox="1"/>
          <p:nvPr/>
        </p:nvSpPr>
        <p:spPr>
          <a:xfrm>
            <a:off x="4059936" y="2377440"/>
            <a:ext cx="228600" cy="1280160"/>
          </a:xfrm>
          <a:prstGeom prst="rect">
            <a:avLst/>
          </a:prstGeom>
          <a:noFill/>
          <a:ln/>
        </p:spPr>
        <p:txBody>
          <a:bodyPr wrap="square" lIns="0" tIns="0" rIns="0" bIns="0" rtlCol="0" anchor="ctr"/>
          <a:lstStyle/>
          <a:p>
            <a:pPr marL="0" indent="0" algn="ctr">
              <a:buNone/>
            </a:pPr>
            <a:r>
              <a:rPr lang="en-US" sz="1600" dirty="0">
                <a:solidFill>
                  <a:srgbClr val="5A647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4288536" y="2377440"/>
            <a:ext cx="1691640" cy="1280160"/>
          </a:xfrm>
          <a:prstGeom prst="roundRect">
            <a:avLst>
              <a:gd name="adj" fmla="val 7143"/>
            </a:avLst>
          </a:prstGeom>
          <a:solidFill>
            <a:srgbClr val="1E2761"/>
          </a:solidFill>
          <a:ln/>
        </p:spPr>
      </p:sp>
      <p:sp>
        <p:nvSpPr>
          <p:cNvPr id="11" name="Text 9"/>
          <p:cNvSpPr txBox="1"/>
          <p:nvPr/>
        </p:nvSpPr>
        <p:spPr>
          <a:xfrm>
            <a:off x="4288536" y="2377440"/>
            <a:ext cx="1691640" cy="128016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Skeptic Challenges</a:t>
            </a:r>
            <a:endParaRPr lang="en-US" sz="1200" dirty="0"/>
          </a:p>
        </p:txBody>
      </p:sp>
      <p:sp>
        <p:nvSpPr>
          <p:cNvPr id="12" name="Text 10"/>
          <p:cNvSpPr txBox="1"/>
          <p:nvPr/>
        </p:nvSpPr>
        <p:spPr>
          <a:xfrm>
            <a:off x="5980176" y="2377440"/>
            <a:ext cx="228600" cy="1280160"/>
          </a:xfrm>
          <a:prstGeom prst="rect">
            <a:avLst/>
          </a:prstGeom>
          <a:noFill/>
          <a:ln/>
        </p:spPr>
        <p:txBody>
          <a:bodyPr wrap="square" lIns="0" tIns="0" rIns="0" bIns="0" rtlCol="0" anchor="ctr"/>
          <a:lstStyle/>
          <a:p>
            <a:pPr marL="0" indent="0" algn="ctr">
              <a:buNone/>
            </a:pPr>
            <a:r>
              <a:rPr lang="en-US" sz="1600" dirty="0">
                <a:solidFill>
                  <a:srgbClr val="5A6478"/>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6208776" y="2377440"/>
            <a:ext cx="1691640" cy="1280160"/>
          </a:xfrm>
          <a:prstGeom prst="roundRect">
            <a:avLst>
              <a:gd name="adj" fmla="val 7143"/>
            </a:avLst>
          </a:prstGeom>
          <a:solidFill>
            <a:srgbClr val="3D4C99"/>
          </a:solidFill>
          <a:ln/>
        </p:spPr>
      </p:sp>
      <p:sp>
        <p:nvSpPr>
          <p:cNvPr id="14" name="Text 12"/>
          <p:cNvSpPr txBox="1"/>
          <p:nvPr/>
        </p:nvSpPr>
        <p:spPr>
          <a:xfrm>
            <a:off x="6208776" y="2377440"/>
            <a:ext cx="1691640" cy="128016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Compliance Checks</a:t>
            </a:r>
            <a:endParaRPr lang="en-US" sz="1200" dirty="0"/>
          </a:p>
        </p:txBody>
      </p:sp>
      <p:sp>
        <p:nvSpPr>
          <p:cNvPr id="15" name="Text 13"/>
          <p:cNvSpPr txBox="1"/>
          <p:nvPr/>
        </p:nvSpPr>
        <p:spPr>
          <a:xfrm>
            <a:off x="7900416" y="2377440"/>
            <a:ext cx="228600" cy="1280160"/>
          </a:xfrm>
          <a:prstGeom prst="rect">
            <a:avLst/>
          </a:prstGeom>
          <a:noFill/>
          <a:ln/>
        </p:spPr>
        <p:txBody>
          <a:bodyPr wrap="square" lIns="0" tIns="0" rIns="0" bIns="0" rtlCol="0" anchor="ctr"/>
          <a:lstStyle/>
          <a:p>
            <a:pPr marL="0" indent="0" algn="ctr">
              <a:buNone/>
            </a:pPr>
            <a:r>
              <a:rPr lang="en-US" sz="1600" dirty="0">
                <a:solidFill>
                  <a:srgbClr val="5A6478"/>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8129016" y="2377440"/>
            <a:ext cx="1691640" cy="1280160"/>
          </a:xfrm>
          <a:prstGeom prst="roundRect">
            <a:avLst>
              <a:gd name="adj" fmla="val 7143"/>
            </a:avLst>
          </a:prstGeom>
          <a:solidFill>
            <a:srgbClr val="1E2761"/>
          </a:solidFill>
          <a:ln/>
        </p:spPr>
      </p:sp>
      <p:sp>
        <p:nvSpPr>
          <p:cNvPr id="17" name="Text 15"/>
          <p:cNvSpPr txBox="1"/>
          <p:nvPr/>
        </p:nvSpPr>
        <p:spPr>
          <a:xfrm>
            <a:off x="8129016" y="2377440"/>
            <a:ext cx="1691640" cy="128016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Adjudicator Decides</a:t>
            </a:r>
            <a:endParaRPr lang="en-US" sz="1200" dirty="0"/>
          </a:p>
        </p:txBody>
      </p:sp>
      <p:sp>
        <p:nvSpPr>
          <p:cNvPr id="18" name="Text 16"/>
          <p:cNvSpPr txBox="1"/>
          <p:nvPr/>
        </p:nvSpPr>
        <p:spPr>
          <a:xfrm>
            <a:off x="9820656" y="2377440"/>
            <a:ext cx="228600" cy="1280160"/>
          </a:xfrm>
          <a:prstGeom prst="rect">
            <a:avLst/>
          </a:prstGeom>
          <a:noFill/>
          <a:ln/>
        </p:spPr>
        <p:txBody>
          <a:bodyPr wrap="square" lIns="0" tIns="0" rIns="0" bIns="0" rtlCol="0" anchor="ctr"/>
          <a:lstStyle/>
          <a:p>
            <a:pPr marL="0" indent="0" algn="ctr">
              <a:buNone/>
            </a:pPr>
            <a:r>
              <a:rPr lang="en-US" sz="1600" dirty="0">
                <a:solidFill>
                  <a:srgbClr val="5A6478"/>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10049256" y="2377440"/>
            <a:ext cx="1691640" cy="1280160"/>
          </a:xfrm>
          <a:prstGeom prst="roundRect">
            <a:avLst>
              <a:gd name="adj" fmla="val 7143"/>
            </a:avLst>
          </a:prstGeom>
          <a:solidFill>
            <a:srgbClr val="3D5AFE"/>
          </a:solidFill>
          <a:ln/>
        </p:spPr>
      </p:sp>
      <p:sp>
        <p:nvSpPr>
          <p:cNvPr id="20" name="Text 18"/>
          <p:cNvSpPr txBox="1"/>
          <p:nvPr/>
        </p:nvSpPr>
        <p:spPr>
          <a:xfrm>
            <a:off x="10049256" y="2377440"/>
            <a:ext cx="1691640" cy="128016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JSON Transcript</a:t>
            </a:r>
            <a:endParaRPr lang="en-US" sz="1200" dirty="0"/>
          </a:p>
        </p:txBody>
      </p:sp>
      <p:sp>
        <p:nvSpPr>
          <p:cNvPr id="21" name="Text 19"/>
          <p:cNvSpPr txBox="1"/>
          <p:nvPr/>
        </p:nvSpPr>
        <p:spPr>
          <a:xfrm>
            <a:off x="548640" y="4297680"/>
            <a:ext cx="11064240" cy="548640"/>
          </a:xfrm>
          <a:prstGeom prst="rect">
            <a:avLst/>
          </a:prstGeom>
          <a:noFill/>
          <a:ln/>
        </p:spPr>
        <p:txBody>
          <a:bodyPr wrap="square" lIns="0" tIns="0" rIns="0" bIns="0" rtlCol="0" anchor="ctr"/>
          <a:lstStyle/>
          <a:p>
            <a:pPr marL="0" indent="0" algn="ctr">
              <a:buNone/>
            </a:pPr>
            <a:r>
              <a:rPr lang="en-US" sz="1350" i="1" dirty="0">
                <a:solidFill>
                  <a:srgbClr val="5A6478"/>
                </a:solidFill>
                <a:latin typeface="Calibri" pitchFamily="34" charset="0"/>
                <a:ea typeface="Calibri" pitchFamily="34" charset="-122"/>
                <a:cs typeface="Calibri" pitchFamily="34" charset="-120"/>
              </a:rPr>
              <a:t>Each stage of the loop is captured verbatim, giving a full audit trail from raw input to final verdict.</a:t>
            </a:r>
            <a:endParaRPr lang="en-US" sz="1350" dirty="0"/>
          </a:p>
        </p:txBody>
      </p:sp>
      <p:sp>
        <p:nvSpPr>
          <p:cNvPr id="22" name="Shape 20"/>
          <p:cNvSpPr/>
          <p:nvPr/>
        </p:nvSpPr>
        <p:spPr>
          <a:xfrm>
            <a:off x="1645920" y="5029200"/>
            <a:ext cx="8869680" cy="1234440"/>
          </a:xfrm>
          <a:prstGeom prst="roundRect">
            <a:avLst>
              <a:gd name="adj" fmla="val 7407"/>
            </a:avLst>
          </a:prstGeom>
          <a:solidFill>
            <a:srgbClr val="F4F6FC"/>
          </a:solidFill>
          <a:ln/>
        </p:spPr>
      </p:sp>
      <p:sp>
        <p:nvSpPr>
          <p:cNvPr id="23" name="Text 21"/>
          <p:cNvSpPr txBox="1"/>
          <p:nvPr/>
        </p:nvSpPr>
        <p:spPr>
          <a:xfrm>
            <a:off x="1920240" y="5029200"/>
            <a:ext cx="8321040" cy="1234440"/>
          </a:xfrm>
          <a:prstGeom prst="rect">
            <a:avLst/>
          </a:prstGeom>
          <a:noFill/>
          <a:ln/>
        </p:spPr>
        <p:txBody>
          <a:bodyPr wrap="square" lIns="0" tIns="0" rIns="0" bIns="0"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Evaluation: synthetic loan &amp; admissions datasets  •  multi-agent vs. single-agent comparison  •  demographic bias probes</a:t>
            </a:r>
            <a:endParaRPr lang="en-US" sz="1300" dirty="0"/>
          </a:p>
        </p:txBody>
      </p:sp>
      <p:sp>
        <p:nvSpPr>
          <p:cNvPr id="24" name="Text 22"/>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EXPECTED OUTCOMES</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What the Project Will Deliver</a:t>
            </a:r>
            <a:endParaRPr lang="en-US" sz="3000" dirty="0"/>
          </a:p>
        </p:txBody>
      </p:sp>
      <p:sp>
        <p:nvSpPr>
          <p:cNvPr id="4" name="Shape 2"/>
          <p:cNvSpPr/>
          <p:nvPr/>
        </p:nvSpPr>
        <p:spPr>
          <a:xfrm>
            <a:off x="548640" y="1965960"/>
            <a:ext cx="2084832" cy="3566160"/>
          </a:xfrm>
          <a:prstGeom prst="roundRect">
            <a:avLst>
              <a:gd name="adj" fmla="val 5263"/>
            </a:avLst>
          </a:prstGeom>
          <a:solidFill>
            <a:srgbClr val="F4F6FC"/>
          </a:solidFill>
          <a:ln/>
          <a:effectLst>
            <a:outerShdw blurRad="76200" dist="25400" dir="5400000" algn="bl" rotWithShape="0">
              <a:srgbClr val="1E2761">
                <a:alpha val="10000"/>
              </a:srgbClr>
            </a:outerShdw>
          </a:effectLst>
        </p:spPr>
      </p:sp>
      <p:sp>
        <p:nvSpPr>
          <p:cNvPr id="5" name="Shape 3"/>
          <p:cNvSpPr/>
          <p:nvPr/>
        </p:nvSpPr>
        <p:spPr>
          <a:xfrm>
            <a:off x="1389888" y="2240280"/>
            <a:ext cx="402336" cy="402336"/>
          </a:xfrm>
          <a:prstGeom prst="ellipse">
            <a:avLst/>
          </a:prstGeom>
          <a:solidFill>
            <a:srgbClr val="1E2761"/>
          </a:solidFill>
          <a:ln/>
        </p:spPr>
      </p:sp>
      <p:sp>
        <p:nvSpPr>
          <p:cNvPr id="6" name="Text 4"/>
          <p:cNvSpPr txBox="1"/>
          <p:nvPr/>
        </p:nvSpPr>
        <p:spPr>
          <a:xfrm>
            <a:off x="1389888" y="22402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85800" y="2834640"/>
            <a:ext cx="1810512" cy="685800"/>
          </a:xfrm>
          <a:prstGeom prst="rect">
            <a:avLst/>
          </a:prstGeom>
          <a:noFill/>
          <a:ln/>
        </p:spPr>
        <p:txBody>
          <a:bodyPr wrap="square" lIns="0" tIns="0" rIns="0" bIns="0" rtlCol="0" anchor="ctr"/>
          <a:lstStyle/>
          <a:p>
            <a:pPr marL="0" indent="0" algn="ctr">
              <a:buNone/>
            </a:pPr>
            <a:r>
              <a:rPr lang="en-US" sz="1250" b="1" dirty="0">
                <a:solidFill>
                  <a:srgbClr val="1A1A2E"/>
                </a:solidFill>
                <a:latin typeface="Calibri" pitchFamily="34" charset="0"/>
                <a:ea typeface="Calibri" pitchFamily="34" charset="-122"/>
                <a:cs typeface="Calibri" pitchFamily="34" charset="-120"/>
              </a:rPr>
              <a:t>Working prototype</a:t>
            </a:r>
            <a:endParaRPr lang="en-US" sz="1250" dirty="0"/>
          </a:p>
        </p:txBody>
      </p:sp>
      <p:sp>
        <p:nvSpPr>
          <p:cNvPr id="8" name="Text 6"/>
          <p:cNvSpPr txBox="1"/>
          <p:nvPr/>
        </p:nvSpPr>
        <p:spPr>
          <a:xfrm>
            <a:off x="731520" y="3566160"/>
            <a:ext cx="1719072" cy="1828800"/>
          </a:xfrm>
          <a:prstGeom prst="rect">
            <a:avLst/>
          </a:prstGeom>
          <a:noFill/>
          <a:ln/>
        </p:spPr>
        <p:txBody>
          <a:bodyPr wrap="square" lIns="0" tIns="0" rIns="0" bIns="0" rtlCol="0" anchor="ctr"/>
          <a:lstStyle/>
          <a:p>
            <a:pPr marL="0" indent="0" algn="ctr">
              <a:lnSpc>
                <a:spcPct val="120000"/>
              </a:lnSpc>
              <a:buNone/>
            </a:pPr>
            <a:r>
              <a:rPr lang="en-US" sz="1050" dirty="0">
                <a:solidFill>
                  <a:srgbClr val="5A6478"/>
                </a:solidFill>
                <a:latin typeface="Calibri" pitchFamily="34" charset="0"/>
                <a:ea typeface="Calibri" pitchFamily="34" charset="-122"/>
                <a:cs typeface="Calibri" pitchFamily="34" charset="-120"/>
              </a:rPr>
              <a:t>Auditable, structured multi-agent decision-making system</a:t>
            </a:r>
            <a:endParaRPr lang="en-US" sz="1050" dirty="0"/>
          </a:p>
        </p:txBody>
      </p:sp>
      <p:sp>
        <p:nvSpPr>
          <p:cNvPr id="9" name="Shape 7"/>
          <p:cNvSpPr/>
          <p:nvPr/>
        </p:nvSpPr>
        <p:spPr>
          <a:xfrm>
            <a:off x="2834640" y="1965960"/>
            <a:ext cx="2084832" cy="3566160"/>
          </a:xfrm>
          <a:prstGeom prst="roundRect">
            <a:avLst>
              <a:gd name="adj" fmla="val 5263"/>
            </a:avLst>
          </a:prstGeom>
          <a:solidFill>
            <a:srgbClr val="F4F6FC"/>
          </a:solidFill>
          <a:ln/>
          <a:effectLst>
            <a:outerShdw blurRad="76200" dist="25400" dir="5400000" algn="bl" rotWithShape="0">
              <a:srgbClr val="1E2761">
                <a:alpha val="10000"/>
              </a:srgbClr>
            </a:outerShdw>
          </a:effectLst>
        </p:spPr>
      </p:sp>
      <p:sp>
        <p:nvSpPr>
          <p:cNvPr id="10" name="Shape 8"/>
          <p:cNvSpPr/>
          <p:nvPr/>
        </p:nvSpPr>
        <p:spPr>
          <a:xfrm>
            <a:off x="3675888" y="2240280"/>
            <a:ext cx="402336" cy="402336"/>
          </a:xfrm>
          <a:prstGeom prst="ellipse">
            <a:avLst/>
          </a:prstGeom>
          <a:solidFill>
            <a:srgbClr val="1E2761"/>
          </a:solidFill>
          <a:ln/>
        </p:spPr>
      </p:sp>
      <p:sp>
        <p:nvSpPr>
          <p:cNvPr id="11" name="Text 9"/>
          <p:cNvSpPr txBox="1"/>
          <p:nvPr/>
        </p:nvSpPr>
        <p:spPr>
          <a:xfrm>
            <a:off x="3675888" y="22402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971800" y="2834640"/>
            <a:ext cx="1810512" cy="685800"/>
          </a:xfrm>
          <a:prstGeom prst="rect">
            <a:avLst/>
          </a:prstGeom>
          <a:noFill/>
          <a:ln/>
        </p:spPr>
        <p:txBody>
          <a:bodyPr wrap="square" lIns="0" tIns="0" rIns="0" bIns="0" rtlCol="0" anchor="ctr"/>
          <a:lstStyle/>
          <a:p>
            <a:pPr marL="0" indent="0" algn="ctr">
              <a:buNone/>
            </a:pPr>
            <a:r>
              <a:rPr lang="en-US" sz="1250" b="1" dirty="0">
                <a:solidFill>
                  <a:srgbClr val="1A1A2E"/>
                </a:solidFill>
                <a:latin typeface="Calibri" pitchFamily="34" charset="0"/>
                <a:ea typeface="Calibri" pitchFamily="34" charset="-122"/>
                <a:cs typeface="Calibri" pitchFamily="34" charset="-120"/>
              </a:rPr>
              <a:t>Traceable transcripts</a:t>
            </a:r>
            <a:endParaRPr lang="en-US" sz="1250" dirty="0"/>
          </a:p>
        </p:txBody>
      </p:sp>
      <p:sp>
        <p:nvSpPr>
          <p:cNvPr id="13" name="Text 11"/>
          <p:cNvSpPr txBox="1"/>
          <p:nvPr/>
        </p:nvSpPr>
        <p:spPr>
          <a:xfrm>
            <a:off x="3017520" y="3566160"/>
            <a:ext cx="1719072" cy="1828800"/>
          </a:xfrm>
          <a:prstGeom prst="rect">
            <a:avLst/>
          </a:prstGeom>
          <a:noFill/>
          <a:ln/>
        </p:spPr>
        <p:txBody>
          <a:bodyPr wrap="square" lIns="0" tIns="0" rIns="0" bIns="0" rtlCol="0" anchor="ctr"/>
          <a:lstStyle/>
          <a:p>
            <a:pPr marL="0" indent="0" algn="ctr">
              <a:lnSpc>
                <a:spcPct val="120000"/>
              </a:lnSpc>
              <a:buNone/>
            </a:pPr>
            <a:r>
              <a:rPr lang="en-US" sz="1050" dirty="0">
                <a:solidFill>
                  <a:srgbClr val="5A6478"/>
                </a:solidFill>
                <a:latin typeface="Calibri" pitchFamily="34" charset="0"/>
                <a:ea typeface="Calibri" pitchFamily="34" charset="-122"/>
                <a:cs typeface="Calibri" pitchFamily="34" charset="-120"/>
              </a:rPr>
              <a:t>JSON logs showing full reasoning behind every decision</a:t>
            </a:r>
            <a:endParaRPr lang="en-US" sz="1050" dirty="0"/>
          </a:p>
        </p:txBody>
      </p:sp>
      <p:sp>
        <p:nvSpPr>
          <p:cNvPr id="14" name="Shape 12"/>
          <p:cNvSpPr/>
          <p:nvPr/>
        </p:nvSpPr>
        <p:spPr>
          <a:xfrm>
            <a:off x="5120640" y="1965960"/>
            <a:ext cx="2084832" cy="3566160"/>
          </a:xfrm>
          <a:prstGeom prst="roundRect">
            <a:avLst>
              <a:gd name="adj" fmla="val 5263"/>
            </a:avLst>
          </a:prstGeom>
          <a:solidFill>
            <a:srgbClr val="F4F6FC"/>
          </a:solidFill>
          <a:ln/>
          <a:effectLst>
            <a:outerShdw blurRad="76200" dist="25400" dir="5400000" algn="bl" rotWithShape="0">
              <a:srgbClr val="1E2761">
                <a:alpha val="10000"/>
              </a:srgbClr>
            </a:outerShdw>
          </a:effectLst>
        </p:spPr>
      </p:sp>
      <p:sp>
        <p:nvSpPr>
          <p:cNvPr id="15" name="Shape 13"/>
          <p:cNvSpPr/>
          <p:nvPr/>
        </p:nvSpPr>
        <p:spPr>
          <a:xfrm>
            <a:off x="5961888" y="2240280"/>
            <a:ext cx="402336" cy="402336"/>
          </a:xfrm>
          <a:prstGeom prst="ellipse">
            <a:avLst/>
          </a:prstGeom>
          <a:solidFill>
            <a:srgbClr val="1E2761"/>
          </a:solidFill>
          <a:ln/>
        </p:spPr>
      </p:sp>
      <p:sp>
        <p:nvSpPr>
          <p:cNvPr id="16" name="Text 14"/>
          <p:cNvSpPr txBox="1"/>
          <p:nvPr/>
        </p:nvSpPr>
        <p:spPr>
          <a:xfrm>
            <a:off x="5961888" y="22402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5257800" y="2834640"/>
            <a:ext cx="1810512" cy="685800"/>
          </a:xfrm>
          <a:prstGeom prst="rect">
            <a:avLst/>
          </a:prstGeom>
          <a:noFill/>
          <a:ln/>
        </p:spPr>
        <p:txBody>
          <a:bodyPr wrap="square" lIns="0" tIns="0" rIns="0" bIns="0" rtlCol="0" anchor="ctr"/>
          <a:lstStyle/>
          <a:p>
            <a:pPr marL="0" indent="0" algn="ctr">
              <a:buNone/>
            </a:pPr>
            <a:r>
              <a:rPr lang="en-US" sz="1250" b="1" dirty="0">
                <a:solidFill>
                  <a:srgbClr val="1A1A2E"/>
                </a:solidFill>
                <a:latin typeface="Calibri" pitchFamily="34" charset="0"/>
                <a:ea typeface="Calibri" pitchFamily="34" charset="-122"/>
                <a:cs typeface="Calibri" pitchFamily="34" charset="-120"/>
              </a:rPr>
              <a:t>Comparative results</a:t>
            </a:r>
            <a:endParaRPr lang="en-US" sz="1250" dirty="0"/>
          </a:p>
        </p:txBody>
      </p:sp>
      <p:sp>
        <p:nvSpPr>
          <p:cNvPr id="18" name="Text 16"/>
          <p:cNvSpPr txBox="1"/>
          <p:nvPr/>
        </p:nvSpPr>
        <p:spPr>
          <a:xfrm>
            <a:off x="5303520" y="3566160"/>
            <a:ext cx="1719072" cy="1828800"/>
          </a:xfrm>
          <a:prstGeom prst="rect">
            <a:avLst/>
          </a:prstGeom>
          <a:noFill/>
          <a:ln/>
        </p:spPr>
        <p:txBody>
          <a:bodyPr wrap="square" lIns="0" tIns="0" rIns="0" bIns="0" rtlCol="0" anchor="ctr"/>
          <a:lstStyle/>
          <a:p>
            <a:pPr marL="0" indent="0" algn="ctr">
              <a:lnSpc>
                <a:spcPct val="120000"/>
              </a:lnSpc>
              <a:buNone/>
            </a:pPr>
            <a:r>
              <a:rPr lang="en-US" sz="1050" dirty="0">
                <a:solidFill>
                  <a:srgbClr val="5A6478"/>
                </a:solidFill>
                <a:latin typeface="Calibri" pitchFamily="34" charset="0"/>
                <a:ea typeface="Calibri" pitchFamily="34" charset="-122"/>
                <a:cs typeface="Calibri" pitchFamily="34" charset="-120"/>
              </a:rPr>
              <a:t>Accuracy &amp; consistency: multi-agent vs. single-agent</a:t>
            </a:r>
            <a:endParaRPr lang="en-US" sz="1050" dirty="0"/>
          </a:p>
        </p:txBody>
      </p:sp>
      <p:sp>
        <p:nvSpPr>
          <p:cNvPr id="19" name="Shape 17"/>
          <p:cNvSpPr/>
          <p:nvPr/>
        </p:nvSpPr>
        <p:spPr>
          <a:xfrm>
            <a:off x="7406640" y="1965960"/>
            <a:ext cx="2084832" cy="3566160"/>
          </a:xfrm>
          <a:prstGeom prst="roundRect">
            <a:avLst>
              <a:gd name="adj" fmla="val 5263"/>
            </a:avLst>
          </a:prstGeom>
          <a:solidFill>
            <a:srgbClr val="F4F6FC"/>
          </a:solidFill>
          <a:ln/>
          <a:effectLst>
            <a:outerShdw blurRad="76200" dist="25400" dir="5400000" algn="bl" rotWithShape="0">
              <a:srgbClr val="1E2761">
                <a:alpha val="10000"/>
              </a:srgbClr>
            </a:outerShdw>
          </a:effectLst>
        </p:spPr>
      </p:sp>
      <p:sp>
        <p:nvSpPr>
          <p:cNvPr id="20" name="Shape 18"/>
          <p:cNvSpPr/>
          <p:nvPr/>
        </p:nvSpPr>
        <p:spPr>
          <a:xfrm>
            <a:off x="8247888" y="2240280"/>
            <a:ext cx="402336" cy="402336"/>
          </a:xfrm>
          <a:prstGeom prst="ellipse">
            <a:avLst/>
          </a:prstGeom>
          <a:solidFill>
            <a:srgbClr val="1E2761"/>
          </a:solidFill>
          <a:ln/>
        </p:spPr>
      </p:sp>
      <p:sp>
        <p:nvSpPr>
          <p:cNvPr id="21" name="Text 19"/>
          <p:cNvSpPr txBox="1"/>
          <p:nvPr/>
        </p:nvSpPr>
        <p:spPr>
          <a:xfrm>
            <a:off x="8247888" y="22402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7543800" y="2834640"/>
            <a:ext cx="1810512" cy="685800"/>
          </a:xfrm>
          <a:prstGeom prst="rect">
            <a:avLst/>
          </a:prstGeom>
          <a:noFill/>
          <a:ln/>
        </p:spPr>
        <p:txBody>
          <a:bodyPr wrap="square" lIns="0" tIns="0" rIns="0" bIns="0" rtlCol="0" anchor="ctr"/>
          <a:lstStyle/>
          <a:p>
            <a:pPr marL="0" indent="0" algn="ctr">
              <a:buNone/>
            </a:pPr>
            <a:r>
              <a:rPr lang="en-US" sz="1250" b="1" dirty="0">
                <a:solidFill>
                  <a:srgbClr val="1A1A2E"/>
                </a:solidFill>
                <a:latin typeface="Calibri" pitchFamily="34" charset="0"/>
                <a:ea typeface="Calibri" pitchFamily="34" charset="-122"/>
                <a:cs typeface="Calibri" pitchFamily="34" charset="-120"/>
              </a:rPr>
              <a:t>Bias analysis report</a:t>
            </a:r>
            <a:endParaRPr lang="en-US" sz="1250" dirty="0"/>
          </a:p>
        </p:txBody>
      </p:sp>
      <p:sp>
        <p:nvSpPr>
          <p:cNvPr id="23" name="Text 21"/>
          <p:cNvSpPr txBox="1"/>
          <p:nvPr/>
        </p:nvSpPr>
        <p:spPr>
          <a:xfrm>
            <a:off x="7589520" y="3566160"/>
            <a:ext cx="1719072" cy="1828800"/>
          </a:xfrm>
          <a:prstGeom prst="rect">
            <a:avLst/>
          </a:prstGeom>
          <a:noFill/>
          <a:ln/>
        </p:spPr>
        <p:txBody>
          <a:bodyPr wrap="square" lIns="0" tIns="0" rIns="0" bIns="0" rtlCol="0" anchor="ctr"/>
          <a:lstStyle/>
          <a:p>
            <a:pPr marL="0" indent="0" algn="ctr">
              <a:lnSpc>
                <a:spcPct val="120000"/>
              </a:lnSpc>
              <a:buNone/>
            </a:pPr>
            <a:r>
              <a:rPr lang="en-US" sz="1050" dirty="0">
                <a:solidFill>
                  <a:srgbClr val="5A6478"/>
                </a:solidFill>
                <a:latin typeface="Calibri" pitchFamily="34" charset="0"/>
                <a:ea typeface="Calibri" pitchFamily="34" charset="-122"/>
                <a:cs typeface="Calibri" pitchFamily="34" charset="-120"/>
              </a:rPr>
              <a:t>Where debate reduces or exposes disparate outcomes</a:t>
            </a:r>
            <a:endParaRPr lang="en-US" sz="1050" dirty="0"/>
          </a:p>
        </p:txBody>
      </p:sp>
      <p:sp>
        <p:nvSpPr>
          <p:cNvPr id="24" name="Shape 22"/>
          <p:cNvSpPr/>
          <p:nvPr/>
        </p:nvSpPr>
        <p:spPr>
          <a:xfrm>
            <a:off x="9692640" y="1965960"/>
            <a:ext cx="2084832" cy="3566160"/>
          </a:xfrm>
          <a:prstGeom prst="roundRect">
            <a:avLst>
              <a:gd name="adj" fmla="val 5263"/>
            </a:avLst>
          </a:prstGeom>
          <a:solidFill>
            <a:srgbClr val="F4F6FC"/>
          </a:solidFill>
          <a:ln/>
          <a:effectLst>
            <a:outerShdw blurRad="76200" dist="25400" dir="5400000" algn="bl" rotWithShape="0">
              <a:srgbClr val="1E2761">
                <a:alpha val="10000"/>
              </a:srgbClr>
            </a:outerShdw>
          </a:effectLst>
        </p:spPr>
      </p:sp>
      <p:sp>
        <p:nvSpPr>
          <p:cNvPr id="25" name="Shape 23"/>
          <p:cNvSpPr/>
          <p:nvPr/>
        </p:nvSpPr>
        <p:spPr>
          <a:xfrm>
            <a:off x="10533888" y="2240280"/>
            <a:ext cx="402336" cy="402336"/>
          </a:xfrm>
          <a:prstGeom prst="ellipse">
            <a:avLst/>
          </a:prstGeom>
          <a:solidFill>
            <a:srgbClr val="1E2761"/>
          </a:solidFill>
          <a:ln/>
        </p:spPr>
      </p:sp>
      <p:sp>
        <p:nvSpPr>
          <p:cNvPr id="26" name="Text 24"/>
          <p:cNvSpPr txBox="1"/>
          <p:nvPr/>
        </p:nvSpPr>
        <p:spPr>
          <a:xfrm>
            <a:off x="10533888" y="22402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9829800" y="2834640"/>
            <a:ext cx="1810512" cy="685800"/>
          </a:xfrm>
          <a:prstGeom prst="rect">
            <a:avLst/>
          </a:prstGeom>
          <a:noFill/>
          <a:ln/>
        </p:spPr>
        <p:txBody>
          <a:bodyPr wrap="square" lIns="0" tIns="0" rIns="0" bIns="0" rtlCol="0" anchor="ctr"/>
          <a:lstStyle/>
          <a:p>
            <a:pPr marL="0" indent="0" algn="ctr">
              <a:buNone/>
            </a:pPr>
            <a:r>
              <a:rPr lang="en-US" sz="1250" b="1" dirty="0">
                <a:solidFill>
                  <a:srgbClr val="1A1A2E"/>
                </a:solidFill>
                <a:latin typeface="Calibri" pitchFamily="34" charset="0"/>
                <a:ea typeface="Calibri" pitchFamily="34" charset="-122"/>
                <a:cs typeface="Calibri" pitchFamily="34" charset="-120"/>
              </a:rPr>
              <a:t>Reusable framework</a:t>
            </a:r>
            <a:endParaRPr lang="en-US" sz="1250" dirty="0"/>
          </a:p>
        </p:txBody>
      </p:sp>
      <p:sp>
        <p:nvSpPr>
          <p:cNvPr id="28" name="Text 26"/>
          <p:cNvSpPr txBox="1"/>
          <p:nvPr/>
        </p:nvSpPr>
        <p:spPr>
          <a:xfrm>
            <a:off x="9875520" y="3566160"/>
            <a:ext cx="1719072" cy="1828800"/>
          </a:xfrm>
          <a:prstGeom prst="rect">
            <a:avLst/>
          </a:prstGeom>
          <a:noFill/>
          <a:ln/>
        </p:spPr>
        <p:txBody>
          <a:bodyPr wrap="square" lIns="0" tIns="0" rIns="0" bIns="0" rtlCol="0" anchor="ctr"/>
          <a:lstStyle/>
          <a:p>
            <a:pPr marL="0" indent="0" algn="ctr">
              <a:lnSpc>
                <a:spcPct val="120000"/>
              </a:lnSpc>
              <a:buNone/>
            </a:pPr>
            <a:r>
              <a:rPr lang="en-US" sz="1050" dirty="0">
                <a:solidFill>
                  <a:srgbClr val="5A6478"/>
                </a:solidFill>
                <a:latin typeface="Calibri" pitchFamily="34" charset="0"/>
                <a:ea typeface="Calibri" pitchFamily="34" charset="-122"/>
                <a:cs typeface="Calibri" pitchFamily="34" charset="-120"/>
              </a:rPr>
              <a:t>Extensible beyond loans and admissions use cases</a:t>
            </a:r>
            <a:endParaRPr lang="en-US" sz="1050" dirty="0"/>
          </a:p>
        </p:txBody>
      </p:sp>
      <p:sp>
        <p:nvSpPr>
          <p:cNvPr id="29" name="Text 27"/>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200" dirty="0">
                <a:solidFill>
                  <a:srgbClr val="3D5AFE"/>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References</a:t>
            </a:r>
            <a:endParaRPr lang="en-US" sz="3000" dirty="0"/>
          </a:p>
        </p:txBody>
      </p:sp>
      <p:sp>
        <p:nvSpPr>
          <p:cNvPr id="4" name="Shape 2"/>
          <p:cNvSpPr/>
          <p:nvPr/>
        </p:nvSpPr>
        <p:spPr>
          <a:xfrm>
            <a:off x="548640" y="1783080"/>
            <a:ext cx="274320" cy="274320"/>
          </a:xfrm>
          <a:prstGeom prst="ellipse">
            <a:avLst/>
          </a:prstGeom>
          <a:solidFill>
            <a:srgbClr val="1E2761"/>
          </a:solidFill>
          <a:ln/>
        </p:spPr>
      </p:sp>
      <p:sp>
        <p:nvSpPr>
          <p:cNvPr id="5" name="Text 3"/>
          <p:cNvSpPr txBox="1"/>
          <p:nvPr/>
        </p:nvSpPr>
        <p:spPr>
          <a:xfrm>
            <a:off x="548640" y="178308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32688" y="1737360"/>
            <a:ext cx="4965192" cy="1051560"/>
          </a:xfrm>
          <a:prstGeom prst="rect">
            <a:avLst/>
          </a:prstGeom>
          <a:noFill/>
          <a:ln/>
        </p:spPr>
        <p:txBody>
          <a:bodyPr wrap="square" lIns="0" tIns="0" rIns="0" bIns="0" rtlCol="0" anchor="ctr"/>
          <a:lstStyle/>
          <a:p>
            <a:pPr marL="0" indent="0">
              <a:lnSpc>
                <a:spcPct val="118000"/>
              </a:lnSpc>
              <a:buNone/>
            </a:pPr>
            <a:r>
              <a:rPr lang="en-US" sz="1050" dirty="0">
                <a:solidFill>
                  <a:srgbClr val="1A1A2E"/>
                </a:solidFill>
                <a:latin typeface="Calibri" pitchFamily="34" charset="0"/>
                <a:ea typeface="Calibri" pitchFamily="34" charset="-122"/>
                <a:cs typeface="Calibri" pitchFamily="34" charset="-120"/>
              </a:rPr>
              <a:t>Du, Y., Li, S., Torralba, A., Tenenbaum, J. B., &amp; Mordatch, I. (2023). Improving Factuality and Reasoning in Language Models through Multiagent Debate. arXiv:2305.14325.</a:t>
            </a:r>
            <a:endParaRPr lang="en-US" sz="1050" dirty="0"/>
          </a:p>
        </p:txBody>
      </p:sp>
      <p:sp>
        <p:nvSpPr>
          <p:cNvPr id="7" name="Shape 5"/>
          <p:cNvSpPr/>
          <p:nvPr/>
        </p:nvSpPr>
        <p:spPr>
          <a:xfrm>
            <a:off x="548640" y="2971800"/>
            <a:ext cx="274320" cy="274320"/>
          </a:xfrm>
          <a:prstGeom prst="ellipse">
            <a:avLst/>
          </a:prstGeom>
          <a:solidFill>
            <a:srgbClr val="1E2761"/>
          </a:solidFill>
          <a:ln/>
        </p:spPr>
      </p:sp>
      <p:sp>
        <p:nvSpPr>
          <p:cNvPr id="8" name="Text 6"/>
          <p:cNvSpPr txBox="1"/>
          <p:nvPr/>
        </p:nvSpPr>
        <p:spPr>
          <a:xfrm>
            <a:off x="548640" y="29718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32688" y="2926080"/>
            <a:ext cx="4965192" cy="1051560"/>
          </a:xfrm>
          <a:prstGeom prst="rect">
            <a:avLst/>
          </a:prstGeom>
          <a:noFill/>
          <a:ln/>
        </p:spPr>
        <p:txBody>
          <a:bodyPr wrap="square" lIns="0" tIns="0" rIns="0" bIns="0" rtlCol="0" anchor="ctr"/>
          <a:lstStyle/>
          <a:p>
            <a:pPr marL="0" indent="0">
              <a:lnSpc>
                <a:spcPct val="118000"/>
              </a:lnSpc>
              <a:buNone/>
            </a:pPr>
            <a:r>
              <a:rPr lang="en-US" sz="1050" dirty="0">
                <a:solidFill>
                  <a:srgbClr val="1A1A2E"/>
                </a:solidFill>
                <a:latin typeface="Calibri" pitchFamily="34" charset="0"/>
                <a:ea typeface="Calibri" pitchFamily="34" charset="-122"/>
                <a:cs typeface="Calibri" pitchFamily="34" charset="-120"/>
              </a:rPr>
              <a:t>Wu, Q., Bansal, G., Zhang, J., et al. (2024). AutoGen: Enabling Next-Gen LLM Applications via Multi-Agent Conversations. First Conference on Language Modeling (COLM).</a:t>
            </a:r>
            <a:endParaRPr lang="en-US" sz="1050" dirty="0"/>
          </a:p>
        </p:txBody>
      </p:sp>
      <p:sp>
        <p:nvSpPr>
          <p:cNvPr id="10" name="Shape 8"/>
          <p:cNvSpPr/>
          <p:nvPr/>
        </p:nvSpPr>
        <p:spPr>
          <a:xfrm>
            <a:off x="548640" y="4160520"/>
            <a:ext cx="274320" cy="274320"/>
          </a:xfrm>
          <a:prstGeom prst="ellipse">
            <a:avLst/>
          </a:prstGeom>
          <a:solidFill>
            <a:srgbClr val="1E2761"/>
          </a:solidFill>
          <a:ln/>
        </p:spPr>
      </p:sp>
      <p:sp>
        <p:nvSpPr>
          <p:cNvPr id="11" name="Text 9"/>
          <p:cNvSpPr txBox="1"/>
          <p:nvPr/>
        </p:nvSpPr>
        <p:spPr>
          <a:xfrm>
            <a:off x="548640" y="41605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32688" y="4114800"/>
            <a:ext cx="4965192" cy="1051560"/>
          </a:xfrm>
          <a:prstGeom prst="rect">
            <a:avLst/>
          </a:prstGeom>
          <a:noFill/>
          <a:ln/>
        </p:spPr>
        <p:txBody>
          <a:bodyPr wrap="square" lIns="0" tIns="0" rIns="0" bIns="0" rtlCol="0" anchor="ctr"/>
          <a:lstStyle/>
          <a:p>
            <a:pPr marL="0" indent="0">
              <a:lnSpc>
                <a:spcPct val="118000"/>
              </a:lnSpc>
              <a:buNone/>
            </a:pPr>
            <a:r>
              <a:rPr lang="en-US" sz="1050" dirty="0">
                <a:solidFill>
                  <a:srgbClr val="1A1A2E"/>
                </a:solidFill>
                <a:latin typeface="Calibri" pitchFamily="34" charset="0"/>
                <a:ea typeface="Calibri" pitchFamily="34" charset="-122"/>
                <a:cs typeface="Calibri" pitchFamily="34" charset="-120"/>
              </a:rPr>
              <a:t>Benchmarking Large Language Models for Multi-Agent Systems: A Comparative Analysis of AutoGen, CrewAI, and TaskWeaver (2024). arXiv preprint.</a:t>
            </a:r>
            <a:endParaRPr lang="en-US" sz="1050" dirty="0"/>
          </a:p>
        </p:txBody>
      </p:sp>
      <p:sp>
        <p:nvSpPr>
          <p:cNvPr id="13" name="Shape 11"/>
          <p:cNvSpPr/>
          <p:nvPr/>
        </p:nvSpPr>
        <p:spPr>
          <a:xfrm>
            <a:off x="548640" y="5349240"/>
            <a:ext cx="274320" cy="274320"/>
          </a:xfrm>
          <a:prstGeom prst="ellipse">
            <a:avLst/>
          </a:prstGeom>
          <a:solidFill>
            <a:srgbClr val="1E2761"/>
          </a:solidFill>
          <a:ln/>
        </p:spPr>
      </p:sp>
      <p:sp>
        <p:nvSpPr>
          <p:cNvPr id="14" name="Text 12"/>
          <p:cNvSpPr txBox="1"/>
          <p:nvPr/>
        </p:nvSpPr>
        <p:spPr>
          <a:xfrm>
            <a:off x="548640" y="534924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932688" y="5303520"/>
            <a:ext cx="4965192" cy="1051560"/>
          </a:xfrm>
          <a:prstGeom prst="rect">
            <a:avLst/>
          </a:prstGeom>
          <a:noFill/>
          <a:ln/>
        </p:spPr>
        <p:txBody>
          <a:bodyPr wrap="square" lIns="0" tIns="0" rIns="0" bIns="0" rtlCol="0" anchor="ctr"/>
          <a:lstStyle/>
          <a:p>
            <a:pPr marL="0" indent="0">
              <a:lnSpc>
                <a:spcPct val="118000"/>
              </a:lnSpc>
              <a:buNone/>
            </a:pPr>
            <a:r>
              <a:rPr lang="en-US" sz="1050" dirty="0">
                <a:solidFill>
                  <a:srgbClr val="1A1A2E"/>
                </a:solidFill>
                <a:latin typeface="Calibri" pitchFamily="34" charset="0"/>
                <a:ea typeface="Calibri" pitchFamily="34" charset="-122"/>
                <a:cs typeface="Calibri" pitchFamily="34" charset="-120"/>
              </a:rPr>
              <a:t>Weidinger, L., Uesato, J., Rauh, M., et al. (2022). Taxonomy of Risks Posed by Language Models. ACM Conference on Fairness, Accountability, and Transparency (FAccT), 214–229.</a:t>
            </a:r>
            <a:endParaRPr lang="en-US" sz="1050" dirty="0"/>
          </a:p>
        </p:txBody>
      </p:sp>
      <p:sp>
        <p:nvSpPr>
          <p:cNvPr id="16" name="Shape 14"/>
          <p:cNvSpPr/>
          <p:nvPr/>
        </p:nvSpPr>
        <p:spPr>
          <a:xfrm>
            <a:off x="6263640" y="1783080"/>
            <a:ext cx="274320" cy="274320"/>
          </a:xfrm>
          <a:prstGeom prst="ellipse">
            <a:avLst/>
          </a:prstGeom>
          <a:solidFill>
            <a:srgbClr val="1E2761"/>
          </a:solidFill>
          <a:ln/>
        </p:spPr>
      </p:sp>
      <p:sp>
        <p:nvSpPr>
          <p:cNvPr id="17" name="Text 15"/>
          <p:cNvSpPr txBox="1"/>
          <p:nvPr/>
        </p:nvSpPr>
        <p:spPr>
          <a:xfrm>
            <a:off x="6263640" y="178308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6647688" y="1737360"/>
            <a:ext cx="4965192" cy="1051560"/>
          </a:xfrm>
          <a:prstGeom prst="rect">
            <a:avLst/>
          </a:prstGeom>
          <a:noFill/>
          <a:ln/>
        </p:spPr>
        <p:txBody>
          <a:bodyPr wrap="square" lIns="0" tIns="0" rIns="0" bIns="0" rtlCol="0" anchor="ctr"/>
          <a:lstStyle/>
          <a:p>
            <a:pPr marL="0" indent="0">
              <a:lnSpc>
                <a:spcPct val="118000"/>
              </a:lnSpc>
              <a:buNone/>
            </a:pPr>
            <a:r>
              <a:rPr lang="en-US" sz="1050" dirty="0">
                <a:solidFill>
                  <a:srgbClr val="1A1A2E"/>
                </a:solidFill>
                <a:latin typeface="Calibri" pitchFamily="34" charset="0"/>
                <a:ea typeface="Calibri" pitchFamily="34" charset="-122"/>
                <a:cs typeface="Calibri" pitchFamily="34" charset="-120"/>
              </a:rPr>
              <a:t>Emergent Bias and Fairness in Multi-Agent Decision Systems (2025). arXiv:2512.16433.</a:t>
            </a:r>
            <a:endParaRPr lang="en-US" sz="1050" dirty="0"/>
          </a:p>
        </p:txBody>
      </p:sp>
      <p:sp>
        <p:nvSpPr>
          <p:cNvPr id="19" name="Shape 17"/>
          <p:cNvSpPr/>
          <p:nvPr/>
        </p:nvSpPr>
        <p:spPr>
          <a:xfrm>
            <a:off x="6263640" y="2971800"/>
            <a:ext cx="274320" cy="274320"/>
          </a:xfrm>
          <a:prstGeom prst="ellipse">
            <a:avLst/>
          </a:prstGeom>
          <a:solidFill>
            <a:srgbClr val="1E2761"/>
          </a:solidFill>
          <a:ln/>
        </p:spPr>
      </p:sp>
      <p:sp>
        <p:nvSpPr>
          <p:cNvPr id="20" name="Text 18"/>
          <p:cNvSpPr txBox="1"/>
          <p:nvPr/>
        </p:nvSpPr>
        <p:spPr>
          <a:xfrm>
            <a:off x="6263640" y="29718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txBox="1"/>
          <p:nvPr/>
        </p:nvSpPr>
        <p:spPr>
          <a:xfrm>
            <a:off x="6647688" y="2926080"/>
            <a:ext cx="4965192" cy="1051560"/>
          </a:xfrm>
          <a:prstGeom prst="rect">
            <a:avLst/>
          </a:prstGeom>
          <a:noFill/>
          <a:ln/>
        </p:spPr>
        <p:txBody>
          <a:bodyPr wrap="square" lIns="0" tIns="0" rIns="0" bIns="0" rtlCol="0" anchor="ctr"/>
          <a:lstStyle/>
          <a:p>
            <a:pPr marL="0" indent="0">
              <a:lnSpc>
                <a:spcPct val="118000"/>
              </a:lnSpc>
              <a:buNone/>
            </a:pPr>
            <a:r>
              <a:rPr lang="en-US" sz="1050" dirty="0">
                <a:solidFill>
                  <a:srgbClr val="1A1A2E"/>
                </a:solidFill>
                <a:latin typeface="Calibri" pitchFamily="34" charset="0"/>
                <a:ea typeface="Calibri" pitchFamily="34" charset="-122"/>
                <a:cs typeface="Calibri" pitchFamily="34" charset="-120"/>
              </a:rPr>
              <a:t>Emergence of Biased Consensus in Multi-Agent LLM Debates (2026). arXiv:2608.02827.</a:t>
            </a:r>
            <a:endParaRPr lang="en-US" sz="1050" dirty="0"/>
          </a:p>
        </p:txBody>
      </p:sp>
      <p:sp>
        <p:nvSpPr>
          <p:cNvPr id="22" name="Shape 20"/>
          <p:cNvSpPr/>
          <p:nvPr/>
        </p:nvSpPr>
        <p:spPr>
          <a:xfrm>
            <a:off x="6263640" y="4160520"/>
            <a:ext cx="274320" cy="274320"/>
          </a:xfrm>
          <a:prstGeom prst="ellipse">
            <a:avLst/>
          </a:prstGeom>
          <a:solidFill>
            <a:srgbClr val="1E2761"/>
          </a:solidFill>
          <a:ln/>
        </p:spPr>
      </p:sp>
      <p:sp>
        <p:nvSpPr>
          <p:cNvPr id="23" name="Text 21"/>
          <p:cNvSpPr txBox="1"/>
          <p:nvPr/>
        </p:nvSpPr>
        <p:spPr>
          <a:xfrm>
            <a:off x="6263640" y="41605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4" name="Text 22"/>
          <p:cNvSpPr txBox="1"/>
          <p:nvPr/>
        </p:nvSpPr>
        <p:spPr>
          <a:xfrm>
            <a:off x="6647688" y="4114800"/>
            <a:ext cx="4965192" cy="1051560"/>
          </a:xfrm>
          <a:prstGeom prst="rect">
            <a:avLst/>
          </a:prstGeom>
          <a:noFill/>
          <a:ln/>
        </p:spPr>
        <p:txBody>
          <a:bodyPr wrap="square" lIns="0" tIns="0" rIns="0" bIns="0" rtlCol="0" anchor="ctr"/>
          <a:lstStyle/>
          <a:p>
            <a:pPr marL="0" indent="0">
              <a:lnSpc>
                <a:spcPct val="118000"/>
              </a:lnSpc>
              <a:buNone/>
            </a:pPr>
            <a:r>
              <a:rPr lang="en-US" sz="1050" dirty="0">
                <a:solidFill>
                  <a:srgbClr val="1A1A2E"/>
                </a:solidFill>
                <a:latin typeface="Calibri" pitchFamily="34" charset="0"/>
                <a:ea typeface="Calibri" pitchFamily="34" charset="-122"/>
                <a:cs typeface="Calibri" pitchFamily="34" charset="-120"/>
              </a:rPr>
              <a:t>CrewAI (2024). Framework Documentation — Role-Based Orchestration for Autonomous Multi-Agent Systems. crewai.com</a:t>
            </a:r>
            <a:endParaRPr lang="en-US" sz="1050" dirty="0"/>
          </a:p>
        </p:txBody>
      </p:sp>
      <p:sp>
        <p:nvSpPr>
          <p:cNvPr id="25" name="Shape 23"/>
          <p:cNvSpPr/>
          <p:nvPr/>
        </p:nvSpPr>
        <p:spPr>
          <a:xfrm>
            <a:off x="6263640" y="5349240"/>
            <a:ext cx="274320" cy="274320"/>
          </a:xfrm>
          <a:prstGeom prst="ellipse">
            <a:avLst/>
          </a:prstGeom>
          <a:solidFill>
            <a:srgbClr val="1E2761"/>
          </a:solidFill>
          <a:ln/>
        </p:spPr>
      </p:sp>
      <p:sp>
        <p:nvSpPr>
          <p:cNvPr id="26" name="Text 24"/>
          <p:cNvSpPr txBox="1"/>
          <p:nvPr/>
        </p:nvSpPr>
        <p:spPr>
          <a:xfrm>
            <a:off x="6263640" y="534924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7" name="Text 25"/>
          <p:cNvSpPr txBox="1"/>
          <p:nvPr/>
        </p:nvSpPr>
        <p:spPr>
          <a:xfrm>
            <a:off x="6647688" y="5303520"/>
            <a:ext cx="4965192" cy="1051560"/>
          </a:xfrm>
          <a:prstGeom prst="rect">
            <a:avLst/>
          </a:prstGeom>
          <a:noFill/>
          <a:ln/>
        </p:spPr>
        <p:txBody>
          <a:bodyPr wrap="square" lIns="0" tIns="0" rIns="0" bIns="0" rtlCol="0" anchor="ctr"/>
          <a:lstStyle/>
          <a:p>
            <a:pPr marL="0" indent="0">
              <a:lnSpc>
                <a:spcPct val="118000"/>
              </a:lnSpc>
              <a:buNone/>
            </a:pPr>
            <a:r>
              <a:rPr lang="en-US" sz="1050" dirty="0">
                <a:solidFill>
                  <a:srgbClr val="1A1A2E"/>
                </a:solidFill>
                <a:latin typeface="Calibri" pitchFamily="34" charset="0"/>
                <a:ea typeface="Calibri" pitchFamily="34" charset="-122"/>
                <a:cs typeface="Calibri" pitchFamily="34" charset="-120"/>
              </a:rPr>
              <a:t>Microsoft AutoGen (2024). Open-Source Multi-Agent Framework Documentation. microsoft.github.io/autogen</a:t>
            </a:r>
            <a:endParaRPr lang="en-US" sz="1050" dirty="0"/>
          </a:p>
        </p:txBody>
      </p:sp>
      <p:sp>
        <p:nvSpPr>
          <p:cNvPr id="28" name="Text 26"/>
          <p:cNvSpPr txBox="1"/>
          <p:nvPr/>
        </p:nvSpPr>
        <p:spPr>
          <a:xfrm>
            <a:off x="11548872" y="6400800"/>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nampally2025@outlook.com</cp:lastModifiedBy>
  <cp:revision>2</cp:revision>
  <dcterms:created xsi:type="dcterms:W3CDTF">2026-09-07T04:37:35Z</dcterms:created>
  <dcterms:modified xsi:type="dcterms:W3CDTF">2026-09-07T04:39:37Z</dcterms:modified>
</cp:coreProperties>
</file>